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f866e1f238843c3" /><Relationship Type="http://schemas.openxmlformats.org/officeDocument/2006/relationships/extended-properties" Target="/docProps/app.xml" Id="Rdb03acf50e3b4d98" /><Relationship Type="http://schemas.openxmlformats.org/officeDocument/2006/relationships/officeDocument" Target="/ppt/presentation.xml" Id="R918f70cb1bf348b5" /></Relationships>
</file>

<file path=ppt/presentation.xml><?xml version="1.0" encoding="utf-8"?>
<p:presentation xmlns:p="http://schemas.openxmlformats.org/presentationml/2006/main">
  <p:sldMasterIdLst>
    <p:sldMasterId xmlns:r="http://schemas.openxmlformats.org/officeDocument/2006/relationships" id="2147483648" r:id="Rfd0783a44fda40eb"/>
  </p:sldMasterIdLst>
  <p:notesMasterIdLst>
    <p:notesMasterId xmlns:r="http://schemas.openxmlformats.org/officeDocument/2006/relationships" r:id="R84830abd291a4af3"/>
  </p:notesMasterIdLst>
  <p:sldIdLst>
    <p:sldId xmlns:r="http://schemas.openxmlformats.org/officeDocument/2006/relationships" id="256" r:id="R4bc2a0f45c9c4bbb"/>
    <p:sldId xmlns:r="http://schemas.openxmlformats.org/officeDocument/2006/relationships" id="257" r:id="Re255432d3b2c4210"/>
    <p:sldId xmlns:r="http://schemas.openxmlformats.org/officeDocument/2006/relationships" id="258" r:id="Rc51b1717bfca4671"/>
    <p:sldId xmlns:r="http://schemas.openxmlformats.org/officeDocument/2006/relationships" id="259" r:id="Rc94469174e66412e"/>
    <p:sldId xmlns:r="http://schemas.openxmlformats.org/officeDocument/2006/relationships" id="260" r:id="R9e4cd1fb54e04824"/>
    <p:sldId xmlns:r="http://schemas.openxmlformats.org/officeDocument/2006/relationships" id="261" r:id="R5a4e0254df784606"/>
    <p:sldId xmlns:r="http://schemas.openxmlformats.org/officeDocument/2006/relationships" id="262" r:id="R1a67751cef8d44c6"/>
    <p:sldId xmlns:r="http://schemas.openxmlformats.org/officeDocument/2006/relationships" id="263" r:id="R772c38191dce421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2daab8edf334e17" /><Relationship Type="http://schemas.openxmlformats.org/officeDocument/2006/relationships/slideMaster" Target="/ppt/slideMasters/slideMaster1.xml" Id="Rfd0783a44fda40eb" /><Relationship Type="http://schemas.openxmlformats.org/officeDocument/2006/relationships/notesMaster" Target="/ppt/notesMasters/notesMaster1.xml" Id="R84830abd291a4af3" /><Relationship Type="http://schemas.openxmlformats.org/officeDocument/2006/relationships/presProps" Target="/ppt/presProps.xml" Id="R65ca76acaba54b2d" /><Relationship Type="http://schemas.openxmlformats.org/officeDocument/2006/relationships/tableStyles" Target="/ppt/tableStyles.xml" Id="Rea870d0008de4c7c" /><Relationship Type="http://schemas.openxmlformats.org/officeDocument/2006/relationships/slide" Target="/ppt/slides/slide1.xml" Id="R4bc2a0f45c9c4bbb" /><Relationship Type="http://schemas.openxmlformats.org/officeDocument/2006/relationships/slide" Target="/ppt/slides/slide2.xml" Id="Re255432d3b2c4210" /><Relationship Type="http://schemas.openxmlformats.org/officeDocument/2006/relationships/slide" Target="/ppt/slides/slide3.xml" Id="Rc51b1717bfca4671" /><Relationship Type="http://schemas.openxmlformats.org/officeDocument/2006/relationships/slide" Target="/ppt/slides/slide4.xml" Id="Rc94469174e66412e" /><Relationship Type="http://schemas.openxmlformats.org/officeDocument/2006/relationships/slide" Target="/ppt/slides/slide5.xml" Id="R9e4cd1fb54e04824" /><Relationship Type="http://schemas.openxmlformats.org/officeDocument/2006/relationships/slide" Target="/ppt/slides/slide6.xml" Id="R5a4e0254df784606" /><Relationship Type="http://schemas.openxmlformats.org/officeDocument/2006/relationships/slide" Target="/ppt/slides/slide7.xml" Id="R1a67751cef8d44c6" /><Relationship Type="http://schemas.openxmlformats.org/officeDocument/2006/relationships/slide" Target="/ppt/slides/slide8.xml" Id="R772c38191dce421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82c0685b5aa4a4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d7a81c5ef6c4582" /><Relationship Type="http://schemas.openxmlformats.org/officeDocument/2006/relationships/notesMaster" Target="/ppt/notesMasters/notesMaster1.xml" Id="R97c02109cdce4562" /></Relationships>
</file>

<file path=ppt/notesSlides/_rels/notesSlide2.xml.rels>&#65279;<?xml version="1.0" encoding="utf-8"?><Relationships xmlns="http://schemas.openxmlformats.org/package/2006/relationships"><Relationship Type="http://schemas.openxmlformats.org/officeDocument/2006/relationships/slide" Target="/ppt/slides/slide2.xml" Id="R2201d6d8a8554edd" /><Relationship Type="http://schemas.openxmlformats.org/officeDocument/2006/relationships/notesMaster" Target="/ppt/notesMasters/notesMaster1.xml" Id="Rc1109c93fa924e69" /></Relationships>
</file>

<file path=ppt/notesSlides/_rels/notesSlide3.xml.rels>&#65279;<?xml version="1.0" encoding="utf-8"?><Relationships xmlns="http://schemas.openxmlformats.org/package/2006/relationships"><Relationship Type="http://schemas.openxmlformats.org/officeDocument/2006/relationships/slide" Target="/ppt/slides/slide3.xml" Id="Rebef1bdf080340bd" /><Relationship Type="http://schemas.openxmlformats.org/officeDocument/2006/relationships/notesMaster" Target="/ppt/notesMasters/notesMaster1.xml" Id="Rc0bed10db31049a6" /></Relationships>
</file>

<file path=ppt/notesSlides/_rels/notesSlide4.xml.rels>&#65279;<?xml version="1.0" encoding="utf-8"?><Relationships xmlns="http://schemas.openxmlformats.org/package/2006/relationships"><Relationship Type="http://schemas.openxmlformats.org/officeDocument/2006/relationships/slide" Target="/ppt/slides/slide4.xml" Id="R281b6255b8b74c2a" /><Relationship Type="http://schemas.openxmlformats.org/officeDocument/2006/relationships/notesMaster" Target="/ppt/notesMasters/notesMaster1.xml" Id="R087519c2d56548f4" /></Relationships>
</file>

<file path=ppt/notesSlides/_rels/notesSlide5.xml.rels>&#65279;<?xml version="1.0" encoding="utf-8"?><Relationships xmlns="http://schemas.openxmlformats.org/package/2006/relationships"><Relationship Type="http://schemas.openxmlformats.org/officeDocument/2006/relationships/slide" Target="/ppt/slides/slide5.xml" Id="Re900a46ff77147d9" /><Relationship Type="http://schemas.openxmlformats.org/officeDocument/2006/relationships/notesMaster" Target="/ppt/notesMasters/notesMaster1.xml" Id="R6c9f29235ed342c5" /></Relationships>
</file>

<file path=ppt/notesSlides/_rels/notesSlide6.xml.rels>&#65279;<?xml version="1.0" encoding="utf-8"?><Relationships xmlns="http://schemas.openxmlformats.org/package/2006/relationships"><Relationship Type="http://schemas.openxmlformats.org/officeDocument/2006/relationships/slide" Target="/ppt/slides/slide6.xml" Id="R9521822828f04594" /><Relationship Type="http://schemas.openxmlformats.org/officeDocument/2006/relationships/notesMaster" Target="/ppt/notesMasters/notesMaster1.xml" Id="Rf10856b754e14968" /></Relationships>
</file>

<file path=ppt/notesSlides/_rels/notesSlide7.xml.rels>&#65279;<?xml version="1.0" encoding="utf-8"?><Relationships xmlns="http://schemas.openxmlformats.org/package/2006/relationships"><Relationship Type="http://schemas.openxmlformats.org/officeDocument/2006/relationships/slide" Target="/ppt/slides/slide7.xml" Id="R726fa4f6f9ea4c5f" /><Relationship Type="http://schemas.openxmlformats.org/officeDocument/2006/relationships/notesMaster" Target="/ppt/notesMasters/notesMaster1.xml" Id="Ra0c0378f372545bd" /></Relationships>
</file>

<file path=ppt/notesSlides/_rels/notesSlide8.xml.rels>&#65279;<?xml version="1.0" encoding="utf-8"?><Relationships xmlns="http://schemas.openxmlformats.org/package/2006/relationships"><Relationship Type="http://schemas.openxmlformats.org/officeDocument/2006/relationships/slide" Target="/ppt/slides/slide8.xml" Id="Rc0b0e08921c6473b" /><Relationship Type="http://schemas.openxmlformats.org/officeDocument/2006/relationships/notesMaster" Target="/ppt/notesMasters/notesMaster1.xml" Id="R710f6b8787da4a5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clinic coverage problem. ShiftSwap lets colleagues request a handover while managers protect the scheduling rules. This is the actual submitted application, supported by the public repository.</a:t>
            </a:r>
          </a:p>
          <a:p xmlns:a="http://schemas.openxmlformats.org/drawingml/2006/main">
            <a:r>
              <a:t/>
            </a:r>
          </a:p>
          <a:p xmlns:a="http://schemas.openxmlformats.org/drawingml/2006/main">
            <a:r>
              <a:t>Sources:</a:t>
            </a:r>
          </a:p>
          <a:p xmlns:a="http://schemas.openxmlformats.org/drawingml/2006/main">
            <a:r>
              <a:t>https://github.com/kanamakindhabharathreddy/shiftswap/blob/b13816e76bb8a8549f0b61fdc4290f6a4b8b8c6b/README.md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screenshot to point out person selection, My schedule, Swap board and Activity log. Staff can post or withdraw from the roster or shift dialog. Pending claims appear separately. The screenshot is a product capture from development, not a promise about the current number of listings. Screenshot source: the local ShiftSwap application.</a:t>
            </a:r>
          </a:p>
          <a:p xmlns:a="http://schemas.openxmlformats.org/drawingml/2006/main">
            <a:r>
              <a:t/>
            </a:r>
          </a:p>
          <a:p xmlns:a="http://schemas.openxmlformats.org/drawingml/2006/main">
            <a:r>
              <a:t>Sources:</a:t>
            </a:r>
          </a:p>
          <a:p xmlns:a="http://schemas.openxmlformats.org/drawingml/2006/main">
            <a:r>
              <a:t>https://github.com/kanamakindhabharathreddy/shiftswap/blob/b13816e76bb8a8549f0b61fdc4290f6a4b8b8c6b/public/app.js</a:t>
            </a:r>
          </a:p>
          <a:p xmlns:a="http://schemas.openxmlformats.org/drawingml/2006/main">
            <a:r>
              <a:t>https://github.com/kanamakindhabharathreddy/shiftswap/blob/b13816e76bb8a8549f0b61fdc4290f6a4b8b8c6b/public/index.html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a pending claim is not an assignment and consumes no assigned weekly hours. A shift has at most one OPEN or CLAIMED listing. Only the poster may withdraw OPEN listings. Only the claimant may unclaim. Managers alone approve or reject. Withdrawn listings remain in history, and the current owner may post again after a completed or withdrawn listing.</a:t>
            </a:r>
          </a:p>
          <a:p xmlns:a="http://schemas.openxmlformats.org/drawingml/2006/main">
            <a:r>
              <a:t/>
            </a:r>
          </a:p>
          <a:p xmlns:a="http://schemas.openxmlformats.org/drawingml/2006/main">
            <a:r>
              <a:t>Sources:</a:t>
            </a:r>
          </a:p>
          <a:p xmlns:a="http://schemas.openxmlformats.org/drawingml/2006/main">
            <a:r>
              <a:t>https://github.com/kanamakindhabharathreddy/shiftswap/blob/b13816e76bb8a8549f0b61fdc4290f6a4b8b8c6b/store.js</a:t>
            </a:r>
          </a:p>
          <a:p xmlns:a="http://schemas.openxmlformats.org/drawingml/2006/main">
            <a:r>
              <a:t>https://github.com/kanamakindhabharathreddy/shiftswap/blob/b13816e76bb8a8549f0b61fdc4290f6a4b8b8c6b/test/shiftswap.test.js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times are clinic-local. Overlap uses A.start &lt; B.end and B.start &lt; A.end. Each overnight shift belongs entirely to its start week. For an OPEN listing, report every applicable violation and identify conflicting shifts. Own-shift claims report only rule 1. Non-OPEN claims report only no longer available. Approval reruns rules 2 to 5 against current assignments. The real clock never affects eligibility.</a:t>
            </a:r>
          </a:p>
          <a:p xmlns:a="http://schemas.openxmlformats.org/drawingml/2006/main">
            <a:r>
              <a:t/>
            </a:r>
          </a:p>
          <a:p xmlns:a="http://schemas.openxmlformats.org/drawingml/2006/main">
            <a:r>
              <a:t>Sources:</a:t>
            </a:r>
          </a:p>
          <a:p xmlns:a="http://schemas.openxmlformats.org/drawingml/2006/main">
            <a:r>
              <a:t>https://github.com/kanamakindhabharathreddy/shiftswap/blob/b13816e76bb8a8549f0b61fdc4290f6a4b8b8c6b/rules.js</a:t>
            </a:r>
          </a:p>
          <a:p xmlns:a="http://schemas.openxmlformats.org/drawingml/2006/main">
            <a:r>
              <a:t>https://github.com/kanamakindhabharathreddy/shiftswap/blob/b13816e76bb8a8549f0b61fdc4290f6a4b8b8c6b/test/shiftswap.test.js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uses no React, Express or external npm packages. The small API fits Node's built-in HTTP server, and vanilla JavaScript keeps local setup simple. SQLite avoids a separate database service. The tradeoff is manual UI state management and a single JSON state document rather than normalized tables. Those choices suit this roster, not a large production deployment.</a:t>
            </a:r>
          </a:p>
          <a:p xmlns:a="http://schemas.openxmlformats.org/drawingml/2006/main">
            <a:r>
              <a:t/>
            </a:r>
          </a:p>
          <a:p xmlns:a="http://schemas.openxmlformats.org/drawingml/2006/main">
            <a:r>
              <a:t>Sources:</a:t>
            </a:r>
          </a:p>
          <a:p xmlns:a="http://schemas.openxmlformats.org/drawingml/2006/main">
            <a:r>
              <a:t>https://github.com/kanamakindhabharathreddy/shiftswap/blob/b13816e76bb8a8549f0b61fdc4290f6a4b8b8c6b/package.json</a:t>
            </a:r>
          </a:p>
          <a:p xmlns:a="http://schemas.openxmlformats.org/drawingml/2006/main">
            <a:r>
              <a:t>https://github.com/kanamakindhabharathreddy/shiftswap/blob/b13816e76bb8a8549f0b61fdc4290f6a4b8b8c6b/server.js</a:t>
            </a:r>
          </a:p>
          <a:p xmlns:a="http://schemas.openxmlformats.org/drawingml/2006/main">
            <a:r>
              <a:t>https://github.com/kanamakindhabharathreddy/shiftswap/blob/b13816e76bb8a8549f0b61fdc4290f6a4b8b8c6b/store.js</a:t>
            </a:r>
          </a:p>
          <a:p xmlns:a="http://schemas.openxmlformats.org/drawingml/2006/main">
            <a:r>
              <a:t>https://github.com/kanamakindhabharathreddy/shiftswap/blob/b13816e76bb8a8549f0b61fdc4290f6a4b8b8c6b/README.md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database path defaults to data/shiftswap.sqlite. Initialization and each domain action use BEGIN IMMEDIATE. Each action reads the latest state, validates, mutates, adds history, updates the JSON document and commits. A database failure rolls back the whole operation. A validation refusal preserves assignments and listings while recording the refusal. Competing claims cannot both succeed. External hosting needs persistent storage.</a:t>
            </a:r>
          </a:p>
          <a:p xmlns:a="http://schemas.openxmlformats.org/drawingml/2006/main">
            <a:r>
              <a:t/>
            </a:r>
          </a:p>
          <a:p xmlns:a="http://schemas.openxmlformats.org/drawingml/2006/main">
            <a:r>
              <a:t>Sources:</a:t>
            </a:r>
          </a:p>
          <a:p xmlns:a="http://schemas.openxmlformats.org/drawingml/2006/main">
            <a:r>
              <a:t>https://github.com/kanamakindhabharathreddy/shiftswap/blob/b13816e76bb8a8549f0b61fdc4290f6a4b8b8c6b/store.js</a:t>
            </a:r>
          </a:p>
          <a:p xmlns:a="http://schemas.openxmlformats.org/drawingml/2006/main">
            <a:r>
              <a:t>https://github.com/kanamakindhabharathreddy/shiftswap/blob/b13816e76bb8a8549f0b61fdc4290f6a4b8b8c6b/test/persistence.test.js</a:t>
            </a:r>
          </a:p>
          <a:p xmlns:a="http://schemas.openxmlformats.org/drawingml/2006/main">
            <a:r>
              <a:t>https://github.com/kanamakindhabharathreddy/shiftswap/blob/b13816e76bb8a8549f0b61fdc4290f6a4b8b8c6b/test/http.test.js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32 tests include a 140-case role/action/status matrix, inclusive 11-hour and 40-hour limits, overnight weeks, combined refusal reasons, approval revalidation, cross-process concurrency, immediate durability, seed independence and forced-write rollback. A separate 2,000-action simulation checked invariants. The live database was compared before and after a real restart using npm start. SH007 remained assigned to S8, Vikram, with listing l10 APPROVED. Event 18 recorded the claim and event 19 recorded Meera's approval. The screenshot captures those actual events. Later demo actions do not alter this restart evidence. Screenshot source: local application Activity log filtered to SH007.</a:t>
            </a:r>
          </a:p>
          <a:p xmlns:a="http://schemas.openxmlformats.org/drawingml/2006/main">
            <a:r>
              <a:t/>
            </a:r>
          </a:p>
          <a:p xmlns:a="http://schemas.openxmlformats.org/drawingml/2006/main">
            <a:r>
              <a:t>Sources:</a:t>
            </a:r>
          </a:p>
          <a:p xmlns:a="http://schemas.openxmlformats.org/drawingml/2006/main">
            <a:r>
              <a:t>https://github.com/kanamakindhabharathreddy/shiftswap/blob/b13816e76bb8a8549f0b61fdc4290f6a4b8b8c6b/VERIFICATION.md</a:t>
            </a:r>
          </a:p>
          <a:p xmlns:a="http://schemas.openxmlformats.org/drawingml/2006/main">
            <a:r>
              <a:t>https://github.com/kanamakindhabharathreddy/shiftswap/blob/b13816e76bb8a8549f0b61fdc4290f6a4b8b8c6b/PERSISTENCE_AUDIT.md</a:t>
            </a:r>
          </a:p>
          <a:p xmlns:a="http://schemas.openxmlformats.org/drawingml/2006/main">
            <a:r>
              <a:t>https://github.com/kanamakindhabharathreddy/shiftswap/blob/b13816e76bb8a8549f0b61fdc4290f6a4b8b8c6b/test/persistence.test.js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Clone the public repository, open its directory and run npm start. No npm install, API keys or paid services are needed. The demo assumes a fresh seed-based installation. Preserve existing saved data. README documents assumptions and run steps. AI_USAGE documents coding and polishing assistance from Codex and Astra. The application implementation commit is b13816e. Presentation and documentation updates follow it. No deployment link is claimed. The presentation accompanies the GitHub submission and is included under docs/ in the repository.</a:t>
            </a:r>
          </a:p>
          <a:p xmlns:a="http://schemas.openxmlformats.org/drawingml/2006/main">
            <a:r>
              <a:t/>
            </a:r>
          </a:p>
          <a:p xmlns:a="http://schemas.openxmlformats.org/drawingml/2006/main">
            <a:r>
              <a:t>Sources:</a:t>
            </a:r>
          </a:p>
          <a:p xmlns:a="http://schemas.openxmlformats.org/drawingml/2006/main">
            <a:r>
              <a:t>https://github.com/kanamakindhabharathreddy/shiftswap/blob/b13816e76bb8a8549f0b61fdc4290f6a4b8b8c6b/README.md</a:t>
            </a:r>
          </a:p>
          <a:p xmlns:a="http://schemas.openxmlformats.org/drawingml/2006/main">
            <a:r>
              <a:t>https://github.com/kanamakindhabharathreddy/shiftswap/blob/b13816e76bb8a8549f0b61fdc4290f6a4b8b8c6b/AI_USAGE.md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6ed3f683adb462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8c49390769d44c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231a436d3df4a3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17f8fdf9148417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0205c12afaa480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45e12a55cce4fd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A2C59BC-0CC2-43E7-8EA7-F0C8C9D5427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EEA5F06-3DA0-4F80-9C47-2883B94D35D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F759ACA-A377-4661-BC6C-E68E2C31037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2C30AE0-DF46-4F7A-A385-0570D88A421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ABAB9A4-5D90-47F0-AA1D-9CF7FEE323C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4850E40-3A6E-4F5A-B903-568CF29DE42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451862B-124B-493F-B54F-A0BCD66868A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2EA2C4E-63EE-43C9-A0AB-A37182E245D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43449D5-F331-41C1-B8BE-42E96ECEA0D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BFD3251-1E50-447F-BDB1-AA3EC847840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545c057f7a84097" /><Relationship Type="http://schemas.openxmlformats.org/officeDocument/2006/relationships/slideLayout" Target="/ppt/slideLayouts/slideLayout1.xml" Id="R2f357f83ab81416e" /><Relationship Type="http://schemas.openxmlformats.org/officeDocument/2006/relationships/slideLayout" Target="/ppt/slideLayouts/slideLayout2.xml" Id="R85948399acef4ee2" /><Relationship Type="http://schemas.openxmlformats.org/officeDocument/2006/relationships/slideLayout" Target="/ppt/slideLayouts/slideLayout3.xml" Id="R9f5c5f049e06464f" /><Relationship Type="http://schemas.openxmlformats.org/officeDocument/2006/relationships/slideLayout" Target="/ppt/slideLayouts/slideLayout4.xml" Id="R243fb13dfbed4068" /><Relationship Type="http://schemas.openxmlformats.org/officeDocument/2006/relationships/slideLayout" Target="/ppt/slideLayouts/slideLayout5.xml" Id="R68d224f446f1458b" /><Relationship Type="http://schemas.openxmlformats.org/officeDocument/2006/relationships/slideLayout" Target="/ppt/slideLayouts/slideLayout6.xml" Id="Re3e250c51fa747b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f357f83ab81416e"/>
    <p:sldLayoutId xmlns:r="http://schemas.openxmlformats.org/officeDocument/2006/relationships" id="2147483650" r:id="R85948399acef4ee2"/>
    <p:sldLayoutId xmlns:r="http://schemas.openxmlformats.org/officeDocument/2006/relationships" id="2147483651" r:id="R9f5c5f049e06464f"/>
    <p:sldLayoutId xmlns:r="http://schemas.openxmlformats.org/officeDocument/2006/relationships" id="2147483652" r:id="R243fb13dfbed4068"/>
    <p:sldLayoutId xmlns:r="http://schemas.openxmlformats.org/officeDocument/2006/relationships" id="2147483653" r:id="R68d224f446f1458b"/>
    <p:sldLayoutId xmlns:r="http://schemas.openxmlformats.org/officeDocument/2006/relationships" id="2147483654" r:id="Re3e250c51fa747b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a397156719e4957" /><Relationship Type="http://schemas.openxmlformats.org/officeDocument/2006/relationships/notesSlide" Target="/ppt/notesSlides/notesSlide1.xml" Id="Re60bdcf30db749e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0a25f7726e34296" /><Relationship Type="http://schemas.openxmlformats.org/officeDocument/2006/relationships/image" Target="/ppt/media/image.jpeg" Id="R6555cb2817ab473f" /><Relationship Type="http://schemas.openxmlformats.org/officeDocument/2006/relationships/notesSlide" Target="/ppt/notesSlides/notesSlide2.xml" Id="Rf8a8d4fe70cf461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109feaabe364150" /><Relationship Type="http://schemas.openxmlformats.org/officeDocument/2006/relationships/notesSlide" Target="/ppt/notesSlides/notesSlide3.xml" Id="R6764507c95bb487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63121717de14be3" /><Relationship Type="http://schemas.openxmlformats.org/officeDocument/2006/relationships/notesSlide" Target="/ppt/notesSlides/notesSlide4.xml" Id="R5199ac68fbe14ce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e93f3bd3e3d4642" /><Relationship Type="http://schemas.openxmlformats.org/officeDocument/2006/relationships/notesSlide" Target="/ppt/notesSlides/notesSlide5.xml" Id="Ra196fcfb21304c0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ee15df7b358487e" /><Relationship Type="http://schemas.openxmlformats.org/officeDocument/2006/relationships/notesSlide" Target="/ppt/notesSlides/notesSlide6.xml" Id="Rc5c7f5c2d29c4b7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a1b05444ff44257" /><Relationship Type="http://schemas.openxmlformats.org/officeDocument/2006/relationships/image" Target="/ppt/media/image2.jpeg" Id="R8d2085c095594a69" /><Relationship Type="http://schemas.openxmlformats.org/officeDocument/2006/relationships/notesSlide" Target="/ppt/notesSlides/notesSlide7.xml" Id="R898011aa00c2486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304639eab034d0c" /><Relationship Type="http://schemas.openxmlformats.org/officeDocument/2006/relationships/notesSlide" Target="/ppt/notesSlides/notesSlide8.xml" Id="R02bf6663fb324e5a" /></Relationships>
</file>

<file path=ppt/slides/slide1.xml><?xml version="1.0" encoding="utf-8"?>
<p:sld xmlns:p="http://schemas.openxmlformats.org/presentationml/2006/main">
  <p:cSld>
    <p:bg>
      <p:bgPr>
        <a:solidFill xmlns:a="http://schemas.openxmlformats.org/drawingml/2006/main">
          <a:srgbClr val="222438"/>
        </a:solidFill>
      </p:bgPr>
    </p:bg>
    <p:spTree>
      <p:nvGrpSpPr>
        <p:cNvPr id="1" name=""/>
        <p:cNvGrpSpPr/>
        <p:nvPr/>
      </p:nvGrpSpPr>
      <p:grpSpPr>
        <a:xfrm xmlns:a="http://schemas.openxmlformats.org/drawingml/2006/main"/>
      </p:grpSpPr>
      <p:sp>
        <p:nvSpPr>
          <p:cNvPr id="4" name="ShiftSwap">
            <a:extLst xmlns:a="http://schemas.openxmlformats.org/drawingml/2006/main">
              <a:ext uri="{FF2B5EF4-FFF2-40B4-BE49-F238E27FC236}">
                <a16:creationId xmlns:a16="http://schemas.microsoft.com/office/drawing/2014/main" id="{15350215-32B4-4ECF-BDA1-598E4EF5CB39}"/>
              </a:ext>
            </a:extLst>
          </p:cNvPr>
          <p:cNvSpPr>
            <a:spLocks xmlns:a="http://schemas.openxmlformats.org/drawingml/2006/main" noGrp="1"/>
          </p:cNvSpPr>
          <p:nvPr/>
        </p:nvSpPr>
        <p:spPr>
          <a:xfrm xmlns:a="http://schemas.openxmlformats.org/drawingml/2006/main">
            <a:off x="685800" y="1381125"/>
            <a:ext cx="10668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8400" b="1">
                <a:solidFill>
                  <a:srgbClr val="E1EEAE"/>
                </a:solidFill>
                <a:latin typeface="Arial"/>
                <a:ea typeface="Arial"/>
                <a:cs typeface="Arial"/>
              </a:defRPr>
            </a:defPPr>
          </a:lstStyle>
          <a:p xmlns:a="http://schemas.openxmlformats.org/drawingml/2006/main">
            <a:pPr algn="l">
              <a:lnSpc>
                <a:spcPct val="112000"/>
              </a:lnSpc>
              <a:buNone/>
              <a:defRPr sz="8400" b="1">
                <a:solidFill>
                  <a:srgbClr val="E1EEAE"/>
                </a:solidFill>
                <a:latin typeface="Arial"/>
                <a:ea typeface="Arial"/>
                <a:cs typeface="Arial"/>
              </a:defRPr>
            </a:pPr>
            <a:r>
              <a:rPr sz="8400" b="1">
                <a:solidFill>
                  <a:srgbClr val="E1EEAE"/>
                </a:solidFill>
                <a:latin typeface="Arial"/>
                <a:ea typeface="Arial"/>
                <a:cs typeface="Arial"/>
              </a:rPr>
              <a:t>ShiftSwap</a:t>
            </a:r>
          </a:p>
        </p:txBody>
      </p:sp>
      <p:sp>
        <p:nvSpPr>
          <p:cNvPr id="2" name="Clinic shift swaps with manager approval">
            <a:extLst xmlns:a="http://schemas.openxmlformats.org/drawingml/2006/main">
              <a:ext uri="{FF2B5EF4-FFF2-40B4-BE49-F238E27FC236}">
                <a16:creationId xmlns:a16="http://schemas.microsoft.com/office/drawing/2014/main" id="{C3CB4600-D41B-40E3-92EB-CC1EA123B7EC}"/>
              </a:ext>
            </a:extLst>
          </p:cNvPr>
          <p:cNvSpPr>
            <a:spLocks xmlns:a="http://schemas.openxmlformats.org/drawingml/2006/main" noGrp="1"/>
          </p:cNvSpPr>
          <p:nvPr/>
        </p:nvSpPr>
        <p:spPr>
          <a:xfrm xmlns:a="http://schemas.openxmlformats.org/drawingml/2006/main">
            <a:off x="742950" y="3143250"/>
            <a:ext cx="9810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150" b="0">
                <a:solidFill>
                  <a:srgbClr val="FFFFFF"/>
                </a:solidFill>
                <a:latin typeface="Arial"/>
                <a:ea typeface="Arial"/>
                <a:cs typeface="Arial"/>
              </a:defRPr>
            </a:defPPr>
          </a:lstStyle>
          <a:p xmlns:a="http://schemas.openxmlformats.org/drawingml/2006/main">
            <a:pPr algn="l">
              <a:lnSpc>
                <a:spcPct val="112000"/>
              </a:lnSpc>
              <a:buNone/>
              <a:defRPr sz="3150" b="0">
                <a:solidFill>
                  <a:srgbClr val="FFFFFF"/>
                </a:solidFill>
                <a:latin typeface="Arial"/>
                <a:ea typeface="Arial"/>
                <a:cs typeface="Arial"/>
              </a:defRPr>
            </a:pPr>
            <a:r>
              <a:rPr sz="3150" b="0">
                <a:solidFill>
                  <a:srgbClr val="FFFFFF"/>
                </a:solidFill>
                <a:latin typeface="Arial"/>
                <a:ea typeface="Arial"/>
                <a:cs typeface="Arial"/>
              </a:rPr>
              <a:t>Clinic shift swaps with manager approval</a:t>
            </a:r>
          </a:p>
        </p:txBody>
      </p:sp>
      <p:sp>
        <p:nvSpPr>
          <p:cNvPr id="3" name="Bharath Reddy&#10;Software Development Intern Hackatho">
            <a:extLst xmlns:a="http://schemas.openxmlformats.org/drawingml/2006/main">
              <a:ext uri="{FF2B5EF4-FFF2-40B4-BE49-F238E27FC236}">
                <a16:creationId xmlns:a16="http://schemas.microsoft.com/office/drawing/2014/main" id="{AA1D8410-D9C4-4FED-B00C-37F684D46C7F}"/>
              </a:ext>
            </a:extLst>
          </p:cNvPr>
          <p:cNvSpPr>
            <a:spLocks xmlns:a="http://schemas.openxmlformats.org/drawingml/2006/main" noGrp="1"/>
          </p:cNvSpPr>
          <p:nvPr/>
        </p:nvSpPr>
        <p:spPr>
          <a:xfrm xmlns:a="http://schemas.openxmlformats.org/drawingml/2006/main">
            <a:off x="762000" y="4905375"/>
            <a:ext cx="9525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025" b="0">
                <a:solidFill>
                  <a:srgbClr val="D7DAE5"/>
                </a:solidFill>
                <a:latin typeface="Arial"/>
                <a:ea typeface="Arial"/>
                <a:cs typeface="Arial"/>
              </a:defRPr>
            </a:defPPr>
          </a:lstStyle>
          <a:p xmlns:a="http://schemas.openxmlformats.org/drawingml/2006/main">
            <a:pPr algn="l">
              <a:lnSpc>
                <a:spcPct val="112000"/>
              </a:lnSpc>
              <a:buNone/>
              <a:defRPr sz="2025" b="0">
                <a:solidFill>
                  <a:srgbClr val="D7DAE5"/>
                </a:solidFill>
                <a:latin typeface="Arial"/>
                <a:ea typeface="Arial"/>
                <a:cs typeface="Arial"/>
              </a:defRPr>
            </a:pPr>
            <a:r>
              <a:rPr sz="2025" b="0">
                <a:solidFill>
                  <a:srgbClr val="D7DAE5"/>
                </a:solidFill>
                <a:latin typeface="Arial"/>
                <a:ea typeface="Arial"/>
                <a:cs typeface="Arial"/>
              </a:rPr>
              <a:t>Bharath Reddy</a:t>
            </a:r>
          </a:p>
          <a:p xmlns:a="http://schemas.openxmlformats.org/drawingml/2006/main">
            <a:pPr algn="l">
              <a:lnSpc>
                <a:spcPct val="112000"/>
              </a:lnSpc>
              <a:buNone/>
              <a:defRPr sz="2025" b="0">
                <a:solidFill>
                  <a:srgbClr val="D7DAE5"/>
                </a:solidFill>
                <a:latin typeface="Arial"/>
                <a:ea typeface="Arial"/>
                <a:cs typeface="Arial"/>
              </a:defRPr>
            </a:pPr>
            <a:r>
              <a:rPr sz="2025" b="0">
                <a:solidFill>
                  <a:srgbClr val="D7DAE5"/>
                </a:solidFill>
                <a:latin typeface="Arial"/>
                <a:ea typeface="Arial"/>
                <a:cs typeface="Arial"/>
              </a:rPr>
              <a:t>Software Development Intern Hackathon</a:t>
            </a:r>
          </a:p>
          <a:p xmlns:a="http://schemas.openxmlformats.org/drawingml/2006/main">
            <a:pPr algn="l">
              <a:lnSpc>
                <a:spcPct val="112000"/>
              </a:lnSpc>
              <a:buNone/>
              <a:defRPr sz="2025" b="0">
                <a:solidFill>
                  <a:srgbClr val="D7DAE5"/>
                </a:solidFill>
                <a:latin typeface="Arial"/>
                <a:ea typeface="Arial"/>
                <a:cs typeface="Arial"/>
              </a:defRPr>
            </a:pPr>
            <a:r>
              <a:rPr sz="2025" b="0">
                <a:solidFill>
                  <a:srgbClr val="D7DAE5"/>
                </a:solidFill>
                <a:latin typeface="Arial"/>
                <a:ea typeface="Arial"/>
                <a:cs typeface="Arial"/>
              </a:rPr>
              <a:t>10 October 2026</a:t>
            </a:r>
          </a:p>
        </p:txBody>
      </p:sp>
    </p:spTree>
    <p:extLst>
      <p:ext uri="{BB962C8B-B14F-4D97-AF65-F5344CB8AC3E}">
        <p14:creationId xmlns:p14="http://schemas.microsoft.com/office/powerpoint/2010/main" val="1382639089"/>
      </p:ext>
    </p:extLst>
  </p:cSld>
</p:sld>
</file>

<file path=ppt/slides/slide2.xml><?xml version="1.0" encoding="utf-8"?>
<p:sld xmlns:p="http://schemas.openxmlformats.org/presentationml/2006/main">
  <p:cSld>
    <p:bg>
      <p:bgPr>
        <a:solidFill xmlns:a="http://schemas.openxmlformats.org/drawingml/2006/main">
          <a:srgbClr val="F7F8FC"/>
        </a:solidFill>
      </p:bgPr>
    </p:bg>
    <p:spTree>
      <p:nvGrpSpPr>
        <p:cNvPr id="1" name=""/>
        <p:cNvGrpSpPr/>
        <p:nvPr/>
      </p:nvGrpSpPr>
      <p:grpSpPr>
        <a:xfrm xmlns:a="http://schemas.openxmlformats.org/drawingml/2006/main"/>
      </p:grpSpPr>
      <p:sp>
        <p:nvSpPr>
          <p:cNvPr id="7" name="Staff workspace">
            <a:extLst xmlns:a="http://schemas.openxmlformats.org/drawingml/2006/main">
              <a:ext uri="{FF2B5EF4-FFF2-40B4-BE49-F238E27FC236}">
                <a16:creationId xmlns:a16="http://schemas.microsoft.com/office/drawing/2014/main" id="{5EECB1C5-BAFE-4FAE-9810-4CC4F4A3E856}"/>
              </a:ext>
            </a:extLst>
          </p:cNvPr>
          <p:cNvSpPr>
            <a:spLocks xmlns:a="http://schemas.openxmlformats.org/drawingml/2006/main" noGrp="1"/>
          </p:cNvSpPr>
          <p:nvPr/>
        </p:nvSpPr>
        <p:spPr>
          <a:xfrm xmlns:a="http://schemas.openxmlformats.org/drawingml/2006/main">
            <a:off x="685800" y="523875"/>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750" b="1">
                <a:solidFill>
                  <a:srgbClr val="242638"/>
                </a:solidFill>
                <a:latin typeface="Arial"/>
                <a:ea typeface="Arial"/>
                <a:cs typeface="Arial"/>
              </a:defRPr>
            </a:defPPr>
          </a:lstStyle>
          <a:p xmlns:a="http://schemas.openxmlformats.org/drawingml/2006/main">
            <a:pPr algn="l">
              <a:lnSpc>
                <a:spcPct val="112000"/>
              </a:lnSpc>
              <a:buNone/>
              <a:defRPr sz="3750" b="1">
                <a:solidFill>
                  <a:srgbClr val="242638"/>
                </a:solidFill>
                <a:latin typeface="Arial"/>
                <a:ea typeface="Arial"/>
                <a:cs typeface="Arial"/>
              </a:defRPr>
            </a:pPr>
            <a:r>
              <a:rPr sz="3750" b="1">
                <a:solidFill>
                  <a:srgbClr val="242638"/>
                </a:solidFill>
                <a:latin typeface="Arial"/>
                <a:ea typeface="Arial"/>
                <a:cs typeface="Arial"/>
              </a:rPr>
              <a:t>Staff workspace</a:t>
            </a:r>
          </a:p>
        </p:txBody>
      </p:sp>
      <p:pic>
        <p:nvPicPr>
          <p:cNvPr id="2" name="">
            <a:extLst xmlns:a="http://schemas.openxmlformats.org/drawingml/2006/main">
              <a:ext uri="{FF2B5EF4-FFF2-40B4-BE49-F238E27FC236}">
                <a16:creationId xmlns:a16="http://schemas.microsoft.com/office/drawing/2014/main" id="{07CC05F2-DF6A-4052-8998-25A264EDF81E}"/>
              </a:ext>
            </a:extLst>
          </p:cNvPr>
          <p:cNvPicPr>
            <a:picLocks xmlns:a="http://schemas.openxmlformats.org/drawingml/2006/main" noChangeAspect="1"/>
          </p:cNvPicPr>
          <p:nvPr/>
        </p:nvPicPr>
        <p:blipFill>
          <a:blip xmlns:r="http://schemas.openxmlformats.org/officeDocument/2006/relationships" xmlns:a="http://schemas.openxmlformats.org/drawingml/2006/main" r:embed="R6555cb2817ab473f"/>
          <a:stretch xmlns:a="http://schemas.openxmlformats.org/drawingml/2006/main"/>
        </p:blipFill>
        <p:spPr>
          <a:xfrm xmlns:a="http://schemas.openxmlformats.org/drawingml/2006/main">
            <a:off x="714014" y="1457325"/>
            <a:ext cx="7334972" cy="5095875"/>
          </a:xfrm>
          <a:prstGeom xmlns:a="http://schemas.openxmlformats.org/drawingml/2006/main" prst="rect">
            <a:avLst/>
          </a:prstGeom>
        </p:spPr>
      </p:pic>
      <p:sp>
        <p:nvSpPr>
          <p:cNvPr id="3" name="Clinic coverage">
            <a:extLst xmlns:a="http://schemas.openxmlformats.org/drawingml/2006/main">
              <a:ext uri="{FF2B5EF4-FFF2-40B4-BE49-F238E27FC236}">
                <a16:creationId xmlns:a16="http://schemas.microsoft.com/office/drawing/2014/main" id="{8B6F5794-23F4-4BC9-AB67-010176318C8F}"/>
              </a:ext>
            </a:extLst>
          </p:cNvPr>
          <p:cNvSpPr>
            <a:spLocks xmlns:a="http://schemas.openxmlformats.org/drawingml/2006/main" noGrp="1"/>
          </p:cNvSpPr>
          <p:nvPr/>
        </p:nvSpPr>
        <p:spPr>
          <a:xfrm xmlns:a="http://schemas.openxmlformats.org/drawingml/2006/main">
            <a:off x="8553450" y="1647825"/>
            <a:ext cx="295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250" b="1">
                <a:solidFill>
                  <a:srgbClr val="574CE5"/>
                </a:solidFill>
                <a:latin typeface="Arial"/>
                <a:ea typeface="Arial"/>
                <a:cs typeface="Arial"/>
              </a:defRPr>
            </a:defPPr>
          </a:lstStyle>
          <a:p xmlns:a="http://schemas.openxmlformats.org/drawingml/2006/main">
            <a:pPr algn="l">
              <a:lnSpc>
                <a:spcPct val="112000"/>
              </a:lnSpc>
              <a:buNone/>
              <a:defRPr sz="2250" b="1">
                <a:solidFill>
                  <a:srgbClr val="574CE5"/>
                </a:solidFill>
                <a:latin typeface="Arial"/>
                <a:ea typeface="Arial"/>
                <a:cs typeface="Arial"/>
              </a:defRPr>
            </a:pPr>
            <a:r>
              <a:rPr sz="2250" b="1">
                <a:solidFill>
                  <a:srgbClr val="574CE5"/>
                </a:solidFill>
                <a:latin typeface="Arial"/>
                <a:ea typeface="Arial"/>
                <a:cs typeface="Arial"/>
              </a:rPr>
              <a:t>Clinic coverage</a:t>
            </a:r>
          </a:p>
        </p:txBody>
      </p:sp>
      <p:sp>
        <p:nvSpPr>
          <p:cNvPr id="4" name="Staff offer assigned shifts for a colleague to cov">
            <a:extLst xmlns:a="http://schemas.openxmlformats.org/drawingml/2006/main">
              <a:ext uri="{FF2B5EF4-FFF2-40B4-BE49-F238E27FC236}">
                <a16:creationId xmlns:a16="http://schemas.microsoft.com/office/drawing/2014/main" id="{D85CA749-E404-4205-AE5D-A6599F791389}"/>
              </a:ext>
            </a:extLst>
          </p:cNvPr>
          <p:cNvSpPr>
            <a:spLocks xmlns:a="http://schemas.openxmlformats.org/drawingml/2006/main" noGrp="1"/>
          </p:cNvSpPr>
          <p:nvPr/>
        </p:nvSpPr>
        <p:spPr>
          <a:xfrm xmlns:a="http://schemas.openxmlformats.org/drawingml/2006/main">
            <a:off x="8553450" y="2190750"/>
            <a:ext cx="2952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025" b="0">
                <a:solidFill>
                  <a:srgbClr val="242638"/>
                </a:solidFill>
                <a:latin typeface="Arial"/>
                <a:ea typeface="Arial"/>
                <a:cs typeface="Arial"/>
              </a:defRPr>
            </a:defPPr>
          </a:lstStyle>
          <a:p xmlns:a="http://schemas.openxmlformats.org/drawingml/2006/main">
            <a:pPr algn="l">
              <a:lnSpc>
                <a:spcPct val="112000"/>
              </a:lnSpc>
              <a:buNone/>
              <a:defRPr sz="2025" b="0">
                <a:solidFill>
                  <a:srgbClr val="242638"/>
                </a:solidFill>
                <a:latin typeface="Arial"/>
                <a:ea typeface="Arial"/>
                <a:cs typeface="Arial"/>
              </a:defRPr>
            </a:pPr>
            <a:r>
              <a:rPr sz="2025" b="0">
                <a:solidFill>
                  <a:srgbClr val="242638"/>
                </a:solidFill>
                <a:latin typeface="Arial"/>
                <a:ea typeface="Arial"/>
                <a:cs typeface="Arial"/>
              </a:rPr>
              <a:t>Staff offer assigned shifts for a colleague to cover.</a:t>
            </a:r>
          </a:p>
        </p:txBody>
      </p:sp>
      <p:sp>
        <p:nvSpPr>
          <p:cNvPr id="5" name="The calendar shows assignments and listing status.">
            <a:extLst xmlns:a="http://schemas.openxmlformats.org/drawingml/2006/main">
              <a:ext uri="{FF2B5EF4-FFF2-40B4-BE49-F238E27FC236}">
                <a16:creationId xmlns:a16="http://schemas.microsoft.com/office/drawing/2014/main" id="{B137CF5A-1E9A-4603-A2F8-5E6683C6B5C8}"/>
              </a:ext>
            </a:extLst>
          </p:cNvPr>
          <p:cNvSpPr>
            <a:spLocks xmlns:a="http://schemas.openxmlformats.org/drawingml/2006/main" noGrp="1"/>
          </p:cNvSpPr>
          <p:nvPr/>
        </p:nvSpPr>
        <p:spPr>
          <a:xfrm xmlns:a="http://schemas.openxmlformats.org/drawingml/2006/main">
            <a:off x="8553450" y="3676650"/>
            <a:ext cx="29527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025" b="0">
                <a:solidFill>
                  <a:srgbClr val="242638"/>
                </a:solidFill>
                <a:latin typeface="Arial"/>
                <a:ea typeface="Arial"/>
                <a:cs typeface="Arial"/>
              </a:defRPr>
            </a:defPPr>
          </a:lstStyle>
          <a:p xmlns:a="http://schemas.openxmlformats.org/drawingml/2006/main">
            <a:pPr algn="l">
              <a:lnSpc>
                <a:spcPct val="112000"/>
              </a:lnSpc>
              <a:buNone/>
              <a:defRPr sz="2025" b="0">
                <a:solidFill>
                  <a:srgbClr val="242638"/>
                </a:solidFill>
                <a:latin typeface="Arial"/>
                <a:ea typeface="Arial"/>
                <a:cs typeface="Arial"/>
              </a:defRPr>
            </a:pPr>
            <a:r>
              <a:rPr sz="2025" b="0">
                <a:solidFill>
                  <a:srgbClr val="242638"/>
                </a:solidFill>
                <a:latin typeface="Arial"/>
                <a:ea typeface="Arial"/>
                <a:cs typeface="Arial"/>
              </a:rPr>
              <a:t>The calendar shows assignments and listing status.</a:t>
            </a:r>
          </a:p>
        </p:txBody>
      </p:sp>
      <p:sp>
        <p:nvSpPr>
          <p:cNvPr id="6" name="The swap board explains eligibility before a claim">
            <a:extLst xmlns:a="http://schemas.openxmlformats.org/drawingml/2006/main">
              <a:ext uri="{FF2B5EF4-FFF2-40B4-BE49-F238E27FC236}">
                <a16:creationId xmlns:a16="http://schemas.microsoft.com/office/drawing/2014/main" id="{99BD5B97-F5D5-40E4-B911-B4A98587AEDF}"/>
              </a:ext>
            </a:extLst>
          </p:cNvPr>
          <p:cNvSpPr>
            <a:spLocks xmlns:a="http://schemas.openxmlformats.org/drawingml/2006/main" noGrp="1"/>
          </p:cNvSpPr>
          <p:nvPr/>
        </p:nvSpPr>
        <p:spPr>
          <a:xfrm xmlns:a="http://schemas.openxmlformats.org/drawingml/2006/main">
            <a:off x="8553450" y="5067300"/>
            <a:ext cx="2952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025" b="0">
                <a:solidFill>
                  <a:srgbClr val="242638"/>
                </a:solidFill>
                <a:latin typeface="Arial"/>
                <a:ea typeface="Arial"/>
                <a:cs typeface="Arial"/>
              </a:defRPr>
            </a:defPPr>
          </a:lstStyle>
          <a:p xmlns:a="http://schemas.openxmlformats.org/drawingml/2006/main">
            <a:pPr algn="l">
              <a:lnSpc>
                <a:spcPct val="112000"/>
              </a:lnSpc>
              <a:buNone/>
              <a:defRPr sz="2025" b="0">
                <a:solidFill>
                  <a:srgbClr val="242638"/>
                </a:solidFill>
                <a:latin typeface="Arial"/>
                <a:ea typeface="Arial"/>
                <a:cs typeface="Arial"/>
              </a:defRPr>
            </a:pPr>
            <a:r>
              <a:rPr sz="2025" b="0">
                <a:solidFill>
                  <a:srgbClr val="242638"/>
                </a:solidFill>
                <a:latin typeface="Arial"/>
                <a:ea typeface="Arial"/>
                <a:cs typeface="Arial"/>
              </a:rPr>
              <a:t>The swap board explains eligibility before a claim.</a:t>
            </a:r>
          </a:p>
        </p:txBody>
      </p:sp>
    </p:spTree>
    <p:extLst>
      <p:ext uri="{BB962C8B-B14F-4D97-AF65-F5344CB8AC3E}">
        <p14:creationId xmlns:p14="http://schemas.microsoft.com/office/powerpoint/2010/main" val="1429156093"/>
      </p:ext>
    </p:extLst>
  </p:cSld>
</p:sld>
</file>

<file path=ppt/slides/slide3.xml><?xml version="1.0" encoding="utf-8"?>
<p:sld xmlns:p="http://schemas.openxmlformats.org/presentationml/2006/main">
  <p:cSld>
    <p:bg>
      <p:bgPr>
        <a:solidFill xmlns:a="http://schemas.openxmlformats.org/drawingml/2006/main">
          <a:srgbClr val="222438"/>
        </a:solidFill>
      </p:bgPr>
    </p:bg>
    <p:spTree>
      <p:nvGrpSpPr>
        <p:cNvPr id="1" name=""/>
        <p:cNvGrpSpPr/>
        <p:nvPr/>
      </p:nvGrpSpPr>
      <p:grpSpPr>
        <a:xfrm xmlns:a="http://schemas.openxmlformats.org/drawingml/2006/main"/>
      </p:grpSpPr>
      <p:sp>
        <p:nvSpPr>
          <p:cNvPr id="13" name="Swap workflow">
            <a:extLst xmlns:a="http://schemas.openxmlformats.org/drawingml/2006/main">
              <a:ext uri="{FF2B5EF4-FFF2-40B4-BE49-F238E27FC236}">
                <a16:creationId xmlns:a16="http://schemas.microsoft.com/office/drawing/2014/main" id="{1EF6E817-0A69-46FD-8207-795F4AFE6F51}"/>
              </a:ext>
            </a:extLst>
          </p:cNvPr>
          <p:cNvSpPr>
            <a:spLocks xmlns:a="http://schemas.openxmlformats.org/drawingml/2006/main" noGrp="1"/>
          </p:cNvSpPr>
          <p:nvPr/>
        </p:nvSpPr>
        <p:spPr>
          <a:xfrm xmlns:a="http://schemas.openxmlformats.org/drawingml/2006/main">
            <a:off x="685800" y="523875"/>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750" b="1">
                <a:solidFill>
                  <a:srgbClr val="FFFFFF"/>
                </a:solidFill>
                <a:latin typeface="Arial"/>
                <a:ea typeface="Arial"/>
                <a:cs typeface="Arial"/>
              </a:defRPr>
            </a:defPPr>
          </a:lstStyle>
          <a:p xmlns:a="http://schemas.openxmlformats.org/drawingml/2006/main">
            <a:pPr algn="l">
              <a:lnSpc>
                <a:spcPct val="112000"/>
              </a:lnSpc>
              <a:buNone/>
              <a:defRPr sz="3750" b="1">
                <a:solidFill>
                  <a:srgbClr val="FFFFFF"/>
                </a:solidFill>
                <a:latin typeface="Arial"/>
                <a:ea typeface="Arial"/>
                <a:cs typeface="Arial"/>
              </a:defRPr>
            </a:pPr>
            <a:r>
              <a:rPr sz="3750" b="1">
                <a:solidFill>
                  <a:srgbClr val="FFFFFF"/>
                </a:solidFill>
                <a:latin typeface="Arial"/>
                <a:ea typeface="Arial"/>
                <a:cs typeface="Arial"/>
              </a:rPr>
              <a:t>Swap workflow</a:t>
            </a:r>
          </a:p>
        </p:txBody>
      </p:sp>
      <p:sp>
        <p:nvSpPr>
          <p:cNvPr id="2" name="01">
            <a:extLst xmlns:a="http://schemas.openxmlformats.org/drawingml/2006/main">
              <a:ext uri="{FF2B5EF4-FFF2-40B4-BE49-F238E27FC236}">
                <a16:creationId xmlns:a16="http://schemas.microsoft.com/office/drawing/2014/main" id="{B6146146-AEBA-4AF0-A784-660B8025CC4B}"/>
              </a:ext>
            </a:extLst>
          </p:cNvPr>
          <p:cNvSpPr>
            <a:spLocks xmlns:a="http://schemas.openxmlformats.org/drawingml/2006/main" noGrp="1"/>
          </p:cNvSpPr>
          <p:nvPr/>
        </p:nvSpPr>
        <p:spPr>
          <a:xfrm xmlns:a="http://schemas.openxmlformats.org/drawingml/2006/main">
            <a:off x="685800" y="1724025"/>
            <a:ext cx="323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5250" b="1">
                <a:solidFill>
                  <a:srgbClr val="E1EEAE"/>
                </a:solidFill>
                <a:latin typeface="Arial"/>
                <a:ea typeface="Arial"/>
                <a:cs typeface="Arial"/>
              </a:defRPr>
            </a:defPPr>
          </a:lstStyle>
          <a:p xmlns:a="http://schemas.openxmlformats.org/drawingml/2006/main">
            <a:pPr algn="l">
              <a:lnSpc>
                <a:spcPct val="112000"/>
              </a:lnSpc>
              <a:buNone/>
              <a:defRPr sz="5250" b="1">
                <a:solidFill>
                  <a:srgbClr val="E1EEAE"/>
                </a:solidFill>
                <a:latin typeface="Arial"/>
                <a:ea typeface="Arial"/>
                <a:cs typeface="Arial"/>
              </a:defRPr>
            </a:pPr>
            <a:r>
              <a:rPr sz="5250" b="1">
                <a:solidFill>
                  <a:srgbClr val="E1EEAE"/>
                </a:solidFill>
                <a:latin typeface="Arial"/>
                <a:ea typeface="Arial"/>
                <a:cs typeface="Arial"/>
              </a:rPr>
              <a:t>01</a:t>
            </a:r>
          </a:p>
        </p:txBody>
      </p:sp>
      <p:sp>
        <p:nvSpPr>
          <p:cNvPr id="3" name="OPEN">
            <a:extLst xmlns:a="http://schemas.openxmlformats.org/drawingml/2006/main">
              <a:ext uri="{FF2B5EF4-FFF2-40B4-BE49-F238E27FC236}">
                <a16:creationId xmlns:a16="http://schemas.microsoft.com/office/drawing/2014/main" id="{C252F5D4-1C75-4D66-BB1D-9BED517A00C3}"/>
              </a:ext>
            </a:extLst>
          </p:cNvPr>
          <p:cNvSpPr>
            <a:spLocks xmlns:a="http://schemas.openxmlformats.org/drawingml/2006/main" noGrp="1"/>
          </p:cNvSpPr>
          <p:nvPr/>
        </p:nvSpPr>
        <p:spPr>
          <a:xfrm xmlns:a="http://schemas.openxmlformats.org/drawingml/2006/main">
            <a:off x="685800" y="278130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850" b="1">
                <a:solidFill>
                  <a:srgbClr val="FFFFFF"/>
                </a:solidFill>
                <a:latin typeface="Arial"/>
                <a:ea typeface="Arial"/>
                <a:cs typeface="Arial"/>
              </a:defRPr>
            </a:defPPr>
          </a:lstStyle>
          <a:p xmlns:a="http://schemas.openxmlformats.org/drawingml/2006/main">
            <a:pPr algn="l">
              <a:lnSpc>
                <a:spcPct val="112000"/>
              </a:lnSpc>
              <a:buNone/>
              <a:defRPr sz="2850" b="1">
                <a:solidFill>
                  <a:srgbClr val="FFFFFF"/>
                </a:solidFill>
                <a:latin typeface="Arial"/>
                <a:ea typeface="Arial"/>
                <a:cs typeface="Arial"/>
              </a:defRPr>
            </a:pPr>
            <a:r>
              <a:rPr sz="2850" b="1">
                <a:solidFill>
                  <a:srgbClr val="FFFFFF"/>
                </a:solidFill>
                <a:latin typeface="Arial"/>
                <a:ea typeface="Arial"/>
                <a:cs typeface="Arial"/>
              </a:rPr>
              <a:t>OPEN</a:t>
            </a:r>
          </a:p>
        </p:txBody>
      </p:sp>
      <p:sp>
        <p:nvSpPr>
          <p:cNvPr id="4" name="The owner posts a shift.&#10;Eligible colleagues can c">
            <a:extLst xmlns:a="http://schemas.openxmlformats.org/drawingml/2006/main">
              <a:ext uri="{FF2B5EF4-FFF2-40B4-BE49-F238E27FC236}">
                <a16:creationId xmlns:a16="http://schemas.microsoft.com/office/drawing/2014/main" id="{20480EB2-6EF4-4644-8B6A-EAC36340BD9B}"/>
              </a:ext>
            </a:extLst>
          </p:cNvPr>
          <p:cNvSpPr>
            <a:spLocks xmlns:a="http://schemas.openxmlformats.org/drawingml/2006/main" noGrp="1"/>
          </p:cNvSpPr>
          <p:nvPr/>
        </p:nvSpPr>
        <p:spPr>
          <a:xfrm xmlns:a="http://schemas.openxmlformats.org/drawingml/2006/main">
            <a:off x="685800" y="3590925"/>
            <a:ext cx="31813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75" b="0">
                <a:solidFill>
                  <a:srgbClr val="E1E3ED"/>
                </a:solidFill>
                <a:latin typeface="Arial"/>
                <a:ea typeface="Arial"/>
                <a:cs typeface="Arial"/>
              </a:defRPr>
            </a:defPPr>
          </a:lstStyle>
          <a:p xmlns:a="http://schemas.openxmlformats.org/drawingml/2006/main">
            <a:pPr algn="l">
              <a:lnSpc>
                <a:spcPct val="112000"/>
              </a:lnSpc>
              <a:buNone/>
              <a:defRPr sz="2175" b="0">
                <a:solidFill>
                  <a:srgbClr val="E1E3ED"/>
                </a:solidFill>
                <a:latin typeface="Arial"/>
                <a:ea typeface="Arial"/>
                <a:cs typeface="Arial"/>
              </a:defRPr>
            </a:pPr>
            <a:r>
              <a:rPr sz="2175" b="0">
                <a:solidFill>
                  <a:srgbClr val="E1E3ED"/>
                </a:solidFill>
                <a:latin typeface="Arial"/>
                <a:ea typeface="Arial"/>
                <a:cs typeface="Arial"/>
              </a:rPr>
              <a:t>The owner posts a shift.</a:t>
            </a:r>
          </a:p>
          <a:p xmlns:a="http://schemas.openxmlformats.org/drawingml/2006/main">
            <a:pPr algn="l">
              <a:lnSpc>
                <a:spcPct val="112000"/>
              </a:lnSpc>
              <a:buNone/>
              <a:defRPr sz="2175" b="0">
                <a:solidFill>
                  <a:srgbClr val="E1E3ED"/>
                </a:solidFill>
                <a:latin typeface="Arial"/>
                <a:ea typeface="Arial"/>
                <a:cs typeface="Arial"/>
              </a:defRPr>
            </a:pPr>
            <a:r>
              <a:rPr sz="2175" b="0">
                <a:solidFill>
                  <a:srgbClr val="E1E3ED"/>
                </a:solidFill>
                <a:latin typeface="Arial"/>
                <a:ea typeface="Arial"/>
                <a:cs typeface="Arial"/>
              </a:rPr>
              <a:t>Eligible colleagues can claim it.</a:t>
            </a:r>
          </a:p>
        </p:txBody>
      </p:sp>
      <p:sp>
        <p:nvSpPr>
          <p:cNvPr id="5" name="02">
            <a:extLst xmlns:a="http://schemas.openxmlformats.org/drawingml/2006/main">
              <a:ext uri="{FF2B5EF4-FFF2-40B4-BE49-F238E27FC236}">
                <a16:creationId xmlns:a16="http://schemas.microsoft.com/office/drawing/2014/main" id="{D77CEC6F-EC77-48E5-932C-DE36CB5FD30B}"/>
              </a:ext>
            </a:extLst>
          </p:cNvPr>
          <p:cNvSpPr>
            <a:spLocks xmlns:a="http://schemas.openxmlformats.org/drawingml/2006/main" noGrp="1"/>
          </p:cNvSpPr>
          <p:nvPr/>
        </p:nvSpPr>
        <p:spPr>
          <a:xfrm xmlns:a="http://schemas.openxmlformats.org/drawingml/2006/main">
            <a:off x="4419600" y="1724025"/>
            <a:ext cx="323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5250" b="1">
                <a:solidFill>
                  <a:srgbClr val="E1EEAE"/>
                </a:solidFill>
                <a:latin typeface="Arial"/>
                <a:ea typeface="Arial"/>
                <a:cs typeface="Arial"/>
              </a:defRPr>
            </a:defPPr>
          </a:lstStyle>
          <a:p xmlns:a="http://schemas.openxmlformats.org/drawingml/2006/main">
            <a:pPr algn="l">
              <a:lnSpc>
                <a:spcPct val="112000"/>
              </a:lnSpc>
              <a:buNone/>
              <a:defRPr sz="5250" b="1">
                <a:solidFill>
                  <a:srgbClr val="E1EEAE"/>
                </a:solidFill>
                <a:latin typeface="Arial"/>
                <a:ea typeface="Arial"/>
                <a:cs typeface="Arial"/>
              </a:defRPr>
            </a:pPr>
            <a:r>
              <a:rPr sz="5250" b="1">
                <a:solidFill>
                  <a:srgbClr val="E1EEAE"/>
                </a:solidFill>
                <a:latin typeface="Arial"/>
                <a:ea typeface="Arial"/>
                <a:cs typeface="Arial"/>
              </a:rPr>
              <a:t>02</a:t>
            </a:r>
          </a:p>
        </p:txBody>
      </p:sp>
      <p:sp>
        <p:nvSpPr>
          <p:cNvPr id="6" name="CLAIMED">
            <a:extLst xmlns:a="http://schemas.openxmlformats.org/drawingml/2006/main">
              <a:ext uri="{FF2B5EF4-FFF2-40B4-BE49-F238E27FC236}">
                <a16:creationId xmlns:a16="http://schemas.microsoft.com/office/drawing/2014/main" id="{97D3300C-5A4F-4FE3-A942-2F4CED888A74}"/>
              </a:ext>
            </a:extLst>
          </p:cNvPr>
          <p:cNvSpPr>
            <a:spLocks xmlns:a="http://schemas.openxmlformats.org/drawingml/2006/main" noGrp="1"/>
          </p:cNvSpPr>
          <p:nvPr/>
        </p:nvSpPr>
        <p:spPr>
          <a:xfrm xmlns:a="http://schemas.openxmlformats.org/drawingml/2006/main">
            <a:off x="4419600" y="278130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850" b="1">
                <a:solidFill>
                  <a:srgbClr val="FFFFFF"/>
                </a:solidFill>
                <a:latin typeface="Arial"/>
                <a:ea typeface="Arial"/>
                <a:cs typeface="Arial"/>
              </a:defRPr>
            </a:defPPr>
          </a:lstStyle>
          <a:p xmlns:a="http://schemas.openxmlformats.org/drawingml/2006/main">
            <a:pPr algn="l">
              <a:lnSpc>
                <a:spcPct val="112000"/>
              </a:lnSpc>
              <a:buNone/>
              <a:defRPr sz="2850" b="1">
                <a:solidFill>
                  <a:srgbClr val="FFFFFF"/>
                </a:solidFill>
                <a:latin typeface="Arial"/>
                <a:ea typeface="Arial"/>
                <a:cs typeface="Arial"/>
              </a:defRPr>
            </a:pPr>
            <a:r>
              <a:rPr sz="2850" b="1">
                <a:solidFill>
                  <a:srgbClr val="FFFFFF"/>
                </a:solidFill>
                <a:latin typeface="Arial"/>
                <a:ea typeface="Arial"/>
                <a:cs typeface="Arial"/>
              </a:rPr>
              <a:t>CLAIMED</a:t>
            </a:r>
          </a:p>
        </p:txBody>
      </p:sp>
      <p:sp>
        <p:nvSpPr>
          <p:cNvPr id="7" name="A colleague requests coverage.&#10;The manager reviews">
            <a:extLst xmlns:a="http://schemas.openxmlformats.org/drawingml/2006/main">
              <a:ext uri="{FF2B5EF4-FFF2-40B4-BE49-F238E27FC236}">
                <a16:creationId xmlns:a16="http://schemas.microsoft.com/office/drawing/2014/main" id="{19EC4A17-C995-427B-8B99-BE7E63EEDA16}"/>
              </a:ext>
            </a:extLst>
          </p:cNvPr>
          <p:cNvSpPr>
            <a:spLocks xmlns:a="http://schemas.openxmlformats.org/drawingml/2006/main" noGrp="1"/>
          </p:cNvSpPr>
          <p:nvPr/>
        </p:nvSpPr>
        <p:spPr>
          <a:xfrm xmlns:a="http://schemas.openxmlformats.org/drawingml/2006/main">
            <a:off x="4419600" y="3590925"/>
            <a:ext cx="31813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75" b="0">
                <a:solidFill>
                  <a:srgbClr val="E1E3ED"/>
                </a:solidFill>
                <a:latin typeface="Arial"/>
                <a:ea typeface="Arial"/>
                <a:cs typeface="Arial"/>
              </a:defRPr>
            </a:defPPr>
          </a:lstStyle>
          <a:p xmlns:a="http://schemas.openxmlformats.org/drawingml/2006/main">
            <a:pPr algn="l">
              <a:lnSpc>
                <a:spcPct val="112000"/>
              </a:lnSpc>
              <a:buNone/>
              <a:defRPr sz="2175" b="0">
                <a:solidFill>
                  <a:srgbClr val="E1E3ED"/>
                </a:solidFill>
                <a:latin typeface="Arial"/>
                <a:ea typeface="Arial"/>
                <a:cs typeface="Arial"/>
              </a:defRPr>
            </a:pPr>
            <a:r>
              <a:rPr sz="2175" b="0">
                <a:solidFill>
                  <a:srgbClr val="E1E3ED"/>
                </a:solidFill>
                <a:latin typeface="Arial"/>
                <a:ea typeface="Arial"/>
                <a:cs typeface="Arial"/>
              </a:rPr>
              <a:t>A colleague requests coverage.</a:t>
            </a:r>
          </a:p>
          <a:p xmlns:a="http://schemas.openxmlformats.org/drawingml/2006/main">
            <a:pPr algn="l">
              <a:lnSpc>
                <a:spcPct val="112000"/>
              </a:lnSpc>
              <a:buNone/>
              <a:defRPr sz="2175" b="0">
                <a:solidFill>
                  <a:srgbClr val="E1E3ED"/>
                </a:solidFill>
                <a:latin typeface="Arial"/>
                <a:ea typeface="Arial"/>
                <a:cs typeface="Arial"/>
              </a:defRPr>
            </a:pPr>
            <a:r>
              <a:rPr sz="2175" b="0">
                <a:solidFill>
                  <a:srgbClr val="E1E3ED"/>
                </a:solidFill>
                <a:latin typeface="Arial"/>
                <a:ea typeface="Arial"/>
                <a:cs typeface="Arial"/>
              </a:rPr>
              <a:t>The manager reviews the claim.</a:t>
            </a:r>
          </a:p>
        </p:txBody>
      </p:sp>
      <p:sp>
        <p:nvSpPr>
          <p:cNvPr id="8" name="03">
            <a:extLst xmlns:a="http://schemas.openxmlformats.org/drawingml/2006/main">
              <a:ext uri="{FF2B5EF4-FFF2-40B4-BE49-F238E27FC236}">
                <a16:creationId xmlns:a16="http://schemas.microsoft.com/office/drawing/2014/main" id="{04A2A544-1057-4370-964C-5120005F1001}"/>
              </a:ext>
            </a:extLst>
          </p:cNvPr>
          <p:cNvSpPr>
            <a:spLocks xmlns:a="http://schemas.openxmlformats.org/drawingml/2006/main" noGrp="1"/>
          </p:cNvSpPr>
          <p:nvPr/>
        </p:nvSpPr>
        <p:spPr>
          <a:xfrm xmlns:a="http://schemas.openxmlformats.org/drawingml/2006/main">
            <a:off x="8153400" y="1724025"/>
            <a:ext cx="323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5250" b="1">
                <a:solidFill>
                  <a:srgbClr val="E1EEAE"/>
                </a:solidFill>
                <a:latin typeface="Arial"/>
                <a:ea typeface="Arial"/>
                <a:cs typeface="Arial"/>
              </a:defRPr>
            </a:defPPr>
          </a:lstStyle>
          <a:p xmlns:a="http://schemas.openxmlformats.org/drawingml/2006/main">
            <a:pPr algn="l">
              <a:lnSpc>
                <a:spcPct val="112000"/>
              </a:lnSpc>
              <a:buNone/>
              <a:defRPr sz="5250" b="1">
                <a:solidFill>
                  <a:srgbClr val="E1EEAE"/>
                </a:solidFill>
                <a:latin typeface="Arial"/>
                <a:ea typeface="Arial"/>
                <a:cs typeface="Arial"/>
              </a:defRPr>
            </a:pPr>
            <a:r>
              <a:rPr sz="5250" b="1">
                <a:solidFill>
                  <a:srgbClr val="E1EEAE"/>
                </a:solidFill>
                <a:latin typeface="Arial"/>
                <a:ea typeface="Arial"/>
                <a:cs typeface="Arial"/>
              </a:rPr>
              <a:t>03</a:t>
            </a:r>
          </a:p>
        </p:txBody>
      </p:sp>
      <p:sp>
        <p:nvSpPr>
          <p:cNvPr id="9" name="APPROVED">
            <a:extLst xmlns:a="http://schemas.openxmlformats.org/drawingml/2006/main">
              <a:ext uri="{FF2B5EF4-FFF2-40B4-BE49-F238E27FC236}">
                <a16:creationId xmlns:a16="http://schemas.microsoft.com/office/drawing/2014/main" id="{AEA0B44A-95F2-4F7A-AC12-90D9EAEED480}"/>
              </a:ext>
            </a:extLst>
          </p:cNvPr>
          <p:cNvSpPr>
            <a:spLocks xmlns:a="http://schemas.openxmlformats.org/drawingml/2006/main" noGrp="1"/>
          </p:cNvSpPr>
          <p:nvPr/>
        </p:nvSpPr>
        <p:spPr>
          <a:xfrm xmlns:a="http://schemas.openxmlformats.org/drawingml/2006/main">
            <a:off x="8153400" y="278130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850" b="1">
                <a:solidFill>
                  <a:srgbClr val="FFFFFF"/>
                </a:solidFill>
                <a:latin typeface="Arial"/>
                <a:ea typeface="Arial"/>
                <a:cs typeface="Arial"/>
              </a:defRPr>
            </a:defPPr>
          </a:lstStyle>
          <a:p xmlns:a="http://schemas.openxmlformats.org/drawingml/2006/main">
            <a:pPr algn="l">
              <a:lnSpc>
                <a:spcPct val="112000"/>
              </a:lnSpc>
              <a:buNone/>
              <a:defRPr sz="2850" b="1">
                <a:solidFill>
                  <a:srgbClr val="FFFFFF"/>
                </a:solidFill>
                <a:latin typeface="Arial"/>
                <a:ea typeface="Arial"/>
                <a:cs typeface="Arial"/>
              </a:defRPr>
            </a:pPr>
            <a:r>
              <a:rPr sz="2850" b="1">
                <a:solidFill>
                  <a:srgbClr val="FFFFFF"/>
                </a:solidFill>
                <a:latin typeface="Arial"/>
                <a:ea typeface="Arial"/>
                <a:cs typeface="Arial"/>
              </a:rPr>
              <a:t>APPROVED</a:t>
            </a:r>
          </a:p>
        </p:txBody>
      </p:sp>
      <p:sp>
        <p:nvSpPr>
          <p:cNvPr id="10" name="The manager rechecks the rules.&#10;Approval assigns t">
            <a:extLst xmlns:a="http://schemas.openxmlformats.org/drawingml/2006/main">
              <a:ext uri="{FF2B5EF4-FFF2-40B4-BE49-F238E27FC236}">
                <a16:creationId xmlns:a16="http://schemas.microsoft.com/office/drawing/2014/main" id="{31906A32-AF5E-45E7-A0B3-3AC7FEC54EC5}"/>
              </a:ext>
            </a:extLst>
          </p:cNvPr>
          <p:cNvSpPr>
            <a:spLocks xmlns:a="http://schemas.openxmlformats.org/drawingml/2006/main" noGrp="1"/>
          </p:cNvSpPr>
          <p:nvPr/>
        </p:nvSpPr>
        <p:spPr>
          <a:xfrm xmlns:a="http://schemas.openxmlformats.org/drawingml/2006/main">
            <a:off x="8153400" y="3590925"/>
            <a:ext cx="31813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75" b="0">
                <a:solidFill>
                  <a:srgbClr val="E1E3ED"/>
                </a:solidFill>
                <a:latin typeface="Arial"/>
                <a:ea typeface="Arial"/>
                <a:cs typeface="Arial"/>
              </a:defRPr>
            </a:defPPr>
          </a:lstStyle>
          <a:p xmlns:a="http://schemas.openxmlformats.org/drawingml/2006/main">
            <a:pPr algn="l">
              <a:lnSpc>
                <a:spcPct val="112000"/>
              </a:lnSpc>
              <a:buNone/>
              <a:defRPr sz="2175" b="0">
                <a:solidFill>
                  <a:srgbClr val="E1E3ED"/>
                </a:solidFill>
                <a:latin typeface="Arial"/>
                <a:ea typeface="Arial"/>
                <a:cs typeface="Arial"/>
              </a:defRPr>
            </a:pPr>
            <a:r>
              <a:rPr sz="2175" b="0">
                <a:solidFill>
                  <a:srgbClr val="E1E3ED"/>
                </a:solidFill>
                <a:latin typeface="Arial"/>
                <a:ea typeface="Arial"/>
                <a:cs typeface="Arial"/>
              </a:rPr>
              <a:t>The manager rechecks the rules.</a:t>
            </a:r>
          </a:p>
          <a:p xmlns:a="http://schemas.openxmlformats.org/drawingml/2006/main">
            <a:pPr algn="l">
              <a:lnSpc>
                <a:spcPct val="112000"/>
              </a:lnSpc>
              <a:buNone/>
              <a:defRPr sz="2175" b="0">
                <a:solidFill>
                  <a:srgbClr val="E1E3ED"/>
                </a:solidFill>
                <a:latin typeface="Arial"/>
                <a:ea typeface="Arial"/>
                <a:cs typeface="Arial"/>
              </a:defRPr>
            </a:pPr>
            <a:r>
              <a:rPr sz="2175" b="0">
                <a:solidFill>
                  <a:srgbClr val="E1E3ED"/>
                </a:solidFill>
                <a:latin typeface="Arial"/>
                <a:ea typeface="Arial"/>
                <a:cs typeface="Arial"/>
              </a:rPr>
              <a:t>Approval assigns the claimant.</a:t>
            </a:r>
          </a:p>
        </p:txBody>
      </p:sp>
      <p:sp>
        <p:nvSpPr>
          <p:cNvPr id="11" name="The original owner remains assigned until approval">
            <a:extLst xmlns:a="http://schemas.openxmlformats.org/drawingml/2006/main">
              <a:ext uri="{FF2B5EF4-FFF2-40B4-BE49-F238E27FC236}">
                <a16:creationId xmlns:a16="http://schemas.microsoft.com/office/drawing/2014/main" id="{D0B084F9-9EAC-486C-BF6C-2BA851110B0F}"/>
              </a:ext>
            </a:extLst>
          </p:cNvPr>
          <p:cNvSpPr>
            <a:spLocks xmlns:a="http://schemas.openxmlformats.org/drawingml/2006/main" noGrp="1"/>
          </p:cNvSpPr>
          <p:nvPr/>
        </p:nvSpPr>
        <p:spPr>
          <a:xfrm xmlns:a="http://schemas.openxmlformats.org/drawingml/2006/main">
            <a:off x="685800" y="536257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250" b="1">
                <a:solidFill>
                  <a:srgbClr val="E1EEAE"/>
                </a:solidFill>
                <a:latin typeface="Arial"/>
                <a:ea typeface="Arial"/>
                <a:cs typeface="Arial"/>
              </a:defRPr>
            </a:defPPr>
          </a:lstStyle>
          <a:p xmlns:a="http://schemas.openxmlformats.org/drawingml/2006/main">
            <a:pPr algn="l">
              <a:lnSpc>
                <a:spcPct val="112000"/>
              </a:lnSpc>
              <a:buNone/>
              <a:defRPr sz="2250" b="1">
                <a:solidFill>
                  <a:srgbClr val="E1EEAE"/>
                </a:solidFill>
                <a:latin typeface="Arial"/>
                <a:ea typeface="Arial"/>
                <a:cs typeface="Arial"/>
              </a:defRPr>
            </a:pPr>
            <a:r>
              <a:rPr sz="2250" b="1">
                <a:solidFill>
                  <a:srgbClr val="E1EEAE"/>
                </a:solidFill>
                <a:latin typeface="Arial"/>
                <a:ea typeface="Arial"/>
                <a:cs typeface="Arial"/>
              </a:rPr>
              <a:t>The original owner remains assigned until approval.</a:t>
            </a:r>
          </a:p>
        </p:txBody>
      </p:sp>
      <p:sp>
        <p:nvSpPr>
          <p:cNvPr id="12" name="Unclaim or reject reopens a claim. The poster can ">
            <a:extLst xmlns:a="http://schemas.openxmlformats.org/drawingml/2006/main">
              <a:ext uri="{FF2B5EF4-FFF2-40B4-BE49-F238E27FC236}">
                <a16:creationId xmlns:a16="http://schemas.microsoft.com/office/drawing/2014/main" id="{3D46731B-BBDB-4ED0-98AF-8CC3E3C5BBDF}"/>
              </a:ext>
            </a:extLst>
          </p:cNvPr>
          <p:cNvSpPr>
            <a:spLocks xmlns:a="http://schemas.openxmlformats.org/drawingml/2006/main" noGrp="1"/>
          </p:cNvSpPr>
          <p:nvPr/>
        </p:nvSpPr>
        <p:spPr>
          <a:xfrm xmlns:a="http://schemas.openxmlformats.org/drawingml/2006/main">
            <a:off x="685800" y="60674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875" b="0">
                <a:solidFill>
                  <a:srgbClr val="E1E3ED"/>
                </a:solidFill>
                <a:latin typeface="Arial"/>
                <a:ea typeface="Arial"/>
                <a:cs typeface="Arial"/>
              </a:defRPr>
            </a:defPPr>
          </a:lstStyle>
          <a:p xmlns:a="http://schemas.openxmlformats.org/drawingml/2006/main">
            <a:pPr algn="l">
              <a:lnSpc>
                <a:spcPct val="112000"/>
              </a:lnSpc>
              <a:buNone/>
              <a:defRPr sz="1875" b="0">
                <a:solidFill>
                  <a:srgbClr val="E1E3ED"/>
                </a:solidFill>
                <a:latin typeface="Arial"/>
                <a:ea typeface="Arial"/>
                <a:cs typeface="Arial"/>
              </a:defRPr>
            </a:pPr>
            <a:r>
              <a:rPr sz="1875" b="0">
                <a:solidFill>
                  <a:srgbClr val="E1E3ED"/>
                </a:solidFill>
                <a:latin typeface="Arial"/>
                <a:ea typeface="Arial"/>
                <a:cs typeface="Arial"/>
              </a:rPr>
              <a:t>Unclaim or reject reopens a claim. The poster can withdraw an OPEN listing.</a:t>
            </a:r>
          </a:p>
        </p:txBody>
      </p:sp>
    </p:spTree>
    <p:extLst>
      <p:ext uri="{BB962C8B-B14F-4D97-AF65-F5344CB8AC3E}">
        <p14:creationId xmlns:p14="http://schemas.microsoft.com/office/powerpoint/2010/main" val="580810059"/>
      </p:ext>
    </p:extLst>
  </p:cSld>
</p:sld>
</file>

<file path=ppt/slides/slide4.xml><?xml version="1.0" encoding="utf-8"?>
<p:sld xmlns:p="http://schemas.openxmlformats.org/presentationml/2006/main">
  <p:cSld>
    <p:bg>
      <p:bgPr>
        <a:solidFill xmlns:a="http://schemas.openxmlformats.org/drawingml/2006/main">
          <a:srgbClr val="F7F8FC"/>
        </a:solidFill>
      </p:bgPr>
    </p:bg>
    <p:spTree>
      <p:nvGrpSpPr>
        <p:cNvPr id="1" name=""/>
        <p:cNvGrpSpPr/>
        <p:nvPr/>
      </p:nvGrpSpPr>
      <p:grpSpPr>
        <a:xfrm xmlns:a="http://schemas.openxmlformats.org/drawingml/2006/main"/>
      </p:grpSpPr>
      <p:sp>
        <p:nvSpPr>
          <p:cNvPr id="13" name="Scheduling rules">
            <a:extLst xmlns:a="http://schemas.openxmlformats.org/drawingml/2006/main">
              <a:ext uri="{FF2B5EF4-FFF2-40B4-BE49-F238E27FC236}">
                <a16:creationId xmlns:a16="http://schemas.microsoft.com/office/drawing/2014/main" id="{80C90501-F1F3-486F-9284-D2CF47490BF2}"/>
              </a:ext>
            </a:extLst>
          </p:cNvPr>
          <p:cNvSpPr>
            <a:spLocks xmlns:a="http://schemas.openxmlformats.org/drawingml/2006/main" noGrp="1"/>
          </p:cNvSpPr>
          <p:nvPr/>
        </p:nvSpPr>
        <p:spPr>
          <a:xfrm xmlns:a="http://schemas.openxmlformats.org/drawingml/2006/main">
            <a:off x="685800" y="523875"/>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750" b="1">
                <a:solidFill>
                  <a:srgbClr val="242638"/>
                </a:solidFill>
                <a:latin typeface="Arial"/>
                <a:ea typeface="Arial"/>
                <a:cs typeface="Arial"/>
              </a:defRPr>
            </a:defPPr>
          </a:lstStyle>
          <a:p xmlns:a="http://schemas.openxmlformats.org/drawingml/2006/main">
            <a:pPr algn="l">
              <a:lnSpc>
                <a:spcPct val="112000"/>
              </a:lnSpc>
              <a:buNone/>
              <a:defRPr sz="3750" b="1">
                <a:solidFill>
                  <a:srgbClr val="242638"/>
                </a:solidFill>
                <a:latin typeface="Arial"/>
                <a:ea typeface="Arial"/>
                <a:cs typeface="Arial"/>
              </a:defRPr>
            </a:pPr>
            <a:r>
              <a:rPr sz="3750" b="1">
                <a:solidFill>
                  <a:srgbClr val="242638"/>
                </a:solidFill>
                <a:latin typeface="Arial"/>
                <a:ea typeface="Arial"/>
                <a:cs typeface="Arial"/>
              </a:rPr>
              <a:t>Scheduling rules</a:t>
            </a:r>
          </a:p>
        </p:txBody>
      </p:sp>
      <p:sp>
        <p:nvSpPr>
          <p:cNvPr id="2" name="01">
            <a:extLst xmlns:a="http://schemas.openxmlformats.org/drawingml/2006/main">
              <a:ext uri="{FF2B5EF4-FFF2-40B4-BE49-F238E27FC236}">
                <a16:creationId xmlns:a16="http://schemas.microsoft.com/office/drawing/2014/main" id="{9496E286-C1A2-446E-94D0-C211DC5107FC}"/>
              </a:ext>
            </a:extLst>
          </p:cNvPr>
          <p:cNvSpPr>
            <a:spLocks xmlns:a="http://schemas.openxmlformats.org/drawingml/2006/main" noGrp="1"/>
          </p:cNvSpPr>
          <p:nvPr/>
        </p:nvSpPr>
        <p:spPr>
          <a:xfrm xmlns:a="http://schemas.openxmlformats.org/drawingml/2006/main">
            <a:off x="685800" y="1628775"/>
            <a:ext cx="714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550" b="1">
                <a:solidFill>
                  <a:srgbClr val="574CE5"/>
                </a:solidFill>
                <a:latin typeface="Arial"/>
                <a:ea typeface="Arial"/>
                <a:cs typeface="Arial"/>
              </a:defRPr>
            </a:defPPr>
          </a:lstStyle>
          <a:p xmlns:a="http://schemas.openxmlformats.org/drawingml/2006/main">
            <a:pPr algn="l">
              <a:lnSpc>
                <a:spcPct val="112000"/>
              </a:lnSpc>
              <a:buNone/>
              <a:defRPr sz="2550" b="1">
                <a:solidFill>
                  <a:srgbClr val="574CE5"/>
                </a:solidFill>
                <a:latin typeface="Arial"/>
                <a:ea typeface="Arial"/>
                <a:cs typeface="Arial"/>
              </a:defRPr>
            </a:pPr>
            <a:r>
              <a:rPr sz="2550" b="1">
                <a:solidFill>
                  <a:srgbClr val="574CE5"/>
                </a:solidFill>
                <a:latin typeface="Arial"/>
                <a:ea typeface="Arial"/>
                <a:cs typeface="Arial"/>
              </a:rPr>
              <a:t>01</a:t>
            </a:r>
          </a:p>
        </p:txBody>
      </p:sp>
      <p:sp>
        <p:nvSpPr>
          <p:cNvPr id="3" name="The claimant must differ from the current owner.">
            <a:extLst xmlns:a="http://schemas.openxmlformats.org/drawingml/2006/main">
              <a:ext uri="{FF2B5EF4-FFF2-40B4-BE49-F238E27FC236}">
                <a16:creationId xmlns:a16="http://schemas.microsoft.com/office/drawing/2014/main" id="{BBE93109-B911-41C6-860A-A9E7BE306B29}"/>
              </a:ext>
            </a:extLst>
          </p:cNvPr>
          <p:cNvSpPr>
            <a:spLocks xmlns:a="http://schemas.openxmlformats.org/drawingml/2006/main" noGrp="1"/>
          </p:cNvSpPr>
          <p:nvPr/>
        </p:nvSpPr>
        <p:spPr>
          <a:xfrm xmlns:a="http://schemas.openxmlformats.org/drawingml/2006/main">
            <a:off x="1657350" y="1657350"/>
            <a:ext cx="9620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75" b="0">
                <a:solidFill>
                  <a:srgbClr val="242638"/>
                </a:solidFill>
                <a:latin typeface="Arial"/>
                <a:ea typeface="Arial"/>
                <a:cs typeface="Arial"/>
              </a:defRPr>
            </a:defPPr>
          </a:lstStyle>
          <a:p xmlns:a="http://schemas.openxmlformats.org/drawingml/2006/main">
            <a:pPr algn="l">
              <a:lnSpc>
                <a:spcPct val="112000"/>
              </a:lnSpc>
              <a:buNone/>
              <a:defRPr sz="2175" b="0">
                <a:solidFill>
                  <a:srgbClr val="242638"/>
                </a:solidFill>
                <a:latin typeface="Arial"/>
                <a:ea typeface="Arial"/>
                <a:cs typeface="Arial"/>
              </a:defRPr>
            </a:pPr>
            <a:r>
              <a:rPr sz="2175" b="0">
                <a:solidFill>
                  <a:srgbClr val="242638"/>
                </a:solidFill>
                <a:latin typeface="Arial"/>
                <a:ea typeface="Arial"/>
                <a:cs typeface="Arial"/>
              </a:rPr>
              <a:t>The claimant must differ from the current owner.</a:t>
            </a:r>
          </a:p>
        </p:txBody>
      </p:sp>
      <p:sp>
        <p:nvSpPr>
          <p:cNvPr id="4" name="02">
            <a:extLst xmlns:a="http://schemas.openxmlformats.org/drawingml/2006/main">
              <a:ext uri="{FF2B5EF4-FFF2-40B4-BE49-F238E27FC236}">
                <a16:creationId xmlns:a16="http://schemas.microsoft.com/office/drawing/2014/main" id="{31A22D35-4016-4D42-960A-9E1D7EA556CF}"/>
              </a:ext>
            </a:extLst>
          </p:cNvPr>
          <p:cNvSpPr>
            <a:spLocks xmlns:a="http://schemas.openxmlformats.org/drawingml/2006/main" noGrp="1"/>
          </p:cNvSpPr>
          <p:nvPr/>
        </p:nvSpPr>
        <p:spPr>
          <a:xfrm xmlns:a="http://schemas.openxmlformats.org/drawingml/2006/main">
            <a:off x="685800" y="2409825"/>
            <a:ext cx="714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550" b="1">
                <a:solidFill>
                  <a:srgbClr val="574CE5"/>
                </a:solidFill>
                <a:latin typeface="Arial"/>
                <a:ea typeface="Arial"/>
                <a:cs typeface="Arial"/>
              </a:defRPr>
            </a:defPPr>
          </a:lstStyle>
          <a:p xmlns:a="http://schemas.openxmlformats.org/drawingml/2006/main">
            <a:pPr algn="l">
              <a:lnSpc>
                <a:spcPct val="112000"/>
              </a:lnSpc>
              <a:buNone/>
              <a:defRPr sz="2550" b="1">
                <a:solidFill>
                  <a:srgbClr val="574CE5"/>
                </a:solidFill>
                <a:latin typeface="Arial"/>
                <a:ea typeface="Arial"/>
                <a:cs typeface="Arial"/>
              </a:defRPr>
            </a:pPr>
            <a:r>
              <a:rPr sz="2550" b="1">
                <a:solidFill>
                  <a:srgbClr val="574CE5"/>
                </a:solidFill>
                <a:latin typeface="Arial"/>
                <a:ea typeface="Arial"/>
                <a:cs typeface="Arial"/>
              </a:rPr>
              <a:t>02</a:t>
            </a:r>
          </a:p>
        </p:txBody>
      </p:sp>
      <p:sp>
        <p:nvSpPr>
          <p:cNvPr id="5" name="The claimant must hold the required certification.">
            <a:extLst xmlns:a="http://schemas.openxmlformats.org/drawingml/2006/main">
              <a:ext uri="{FF2B5EF4-FFF2-40B4-BE49-F238E27FC236}">
                <a16:creationId xmlns:a16="http://schemas.microsoft.com/office/drawing/2014/main" id="{5F8AC5A6-3D8B-4972-BCE1-CBE3CEDCD4D0}"/>
              </a:ext>
            </a:extLst>
          </p:cNvPr>
          <p:cNvSpPr>
            <a:spLocks xmlns:a="http://schemas.openxmlformats.org/drawingml/2006/main" noGrp="1"/>
          </p:cNvSpPr>
          <p:nvPr/>
        </p:nvSpPr>
        <p:spPr>
          <a:xfrm xmlns:a="http://schemas.openxmlformats.org/drawingml/2006/main">
            <a:off x="1657350" y="2438400"/>
            <a:ext cx="9620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75" b="0">
                <a:solidFill>
                  <a:srgbClr val="242638"/>
                </a:solidFill>
                <a:latin typeface="Arial"/>
                <a:ea typeface="Arial"/>
                <a:cs typeface="Arial"/>
              </a:defRPr>
            </a:defPPr>
          </a:lstStyle>
          <a:p xmlns:a="http://schemas.openxmlformats.org/drawingml/2006/main">
            <a:pPr algn="l">
              <a:lnSpc>
                <a:spcPct val="112000"/>
              </a:lnSpc>
              <a:buNone/>
              <a:defRPr sz="2175" b="0">
                <a:solidFill>
                  <a:srgbClr val="242638"/>
                </a:solidFill>
                <a:latin typeface="Arial"/>
                <a:ea typeface="Arial"/>
                <a:cs typeface="Arial"/>
              </a:defRPr>
            </a:pPr>
            <a:r>
              <a:rPr sz="2175" b="0">
                <a:solidFill>
                  <a:srgbClr val="242638"/>
                </a:solidFill>
                <a:latin typeface="Arial"/>
                <a:ea typeface="Arial"/>
                <a:cs typeface="Arial"/>
              </a:rPr>
              <a:t>The claimant must hold the required certification.</a:t>
            </a:r>
          </a:p>
        </p:txBody>
      </p:sp>
      <p:sp>
        <p:nvSpPr>
          <p:cNvPr id="6" name="03">
            <a:extLst xmlns:a="http://schemas.openxmlformats.org/drawingml/2006/main">
              <a:ext uri="{FF2B5EF4-FFF2-40B4-BE49-F238E27FC236}">
                <a16:creationId xmlns:a16="http://schemas.microsoft.com/office/drawing/2014/main" id="{DC726403-52E9-4B98-AF7E-3B026CA56928}"/>
              </a:ext>
            </a:extLst>
          </p:cNvPr>
          <p:cNvSpPr>
            <a:spLocks xmlns:a="http://schemas.openxmlformats.org/drawingml/2006/main" noGrp="1"/>
          </p:cNvSpPr>
          <p:nvPr/>
        </p:nvSpPr>
        <p:spPr>
          <a:xfrm xmlns:a="http://schemas.openxmlformats.org/drawingml/2006/main">
            <a:off x="685800" y="3190875"/>
            <a:ext cx="714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550" b="1">
                <a:solidFill>
                  <a:srgbClr val="574CE5"/>
                </a:solidFill>
                <a:latin typeface="Arial"/>
                <a:ea typeface="Arial"/>
                <a:cs typeface="Arial"/>
              </a:defRPr>
            </a:defPPr>
          </a:lstStyle>
          <a:p xmlns:a="http://schemas.openxmlformats.org/drawingml/2006/main">
            <a:pPr algn="l">
              <a:lnSpc>
                <a:spcPct val="112000"/>
              </a:lnSpc>
              <a:buNone/>
              <a:defRPr sz="2550" b="1">
                <a:solidFill>
                  <a:srgbClr val="574CE5"/>
                </a:solidFill>
                <a:latin typeface="Arial"/>
                <a:ea typeface="Arial"/>
                <a:cs typeface="Arial"/>
              </a:defRPr>
            </a:pPr>
            <a:r>
              <a:rPr sz="2550" b="1">
                <a:solidFill>
                  <a:srgbClr val="574CE5"/>
                </a:solidFill>
                <a:latin typeface="Arial"/>
                <a:ea typeface="Arial"/>
                <a:cs typeface="Arial"/>
              </a:rPr>
              <a:t>03</a:t>
            </a:r>
          </a:p>
        </p:txBody>
      </p:sp>
      <p:sp>
        <p:nvSpPr>
          <p:cNvPr id="7" name="The proposed shift must not overlap assigned shift">
            <a:extLst xmlns:a="http://schemas.openxmlformats.org/drawingml/2006/main">
              <a:ext uri="{FF2B5EF4-FFF2-40B4-BE49-F238E27FC236}">
                <a16:creationId xmlns:a16="http://schemas.microsoft.com/office/drawing/2014/main" id="{AD2B03E8-2653-41AB-9245-3EE3B47EC0AC}"/>
              </a:ext>
            </a:extLst>
          </p:cNvPr>
          <p:cNvSpPr>
            <a:spLocks xmlns:a="http://schemas.openxmlformats.org/drawingml/2006/main" noGrp="1"/>
          </p:cNvSpPr>
          <p:nvPr/>
        </p:nvSpPr>
        <p:spPr>
          <a:xfrm xmlns:a="http://schemas.openxmlformats.org/drawingml/2006/main">
            <a:off x="1657350" y="3219450"/>
            <a:ext cx="9620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75" b="0">
                <a:solidFill>
                  <a:srgbClr val="242638"/>
                </a:solidFill>
                <a:latin typeface="Arial"/>
                <a:ea typeface="Arial"/>
                <a:cs typeface="Arial"/>
              </a:defRPr>
            </a:defPPr>
          </a:lstStyle>
          <a:p xmlns:a="http://schemas.openxmlformats.org/drawingml/2006/main">
            <a:pPr algn="l">
              <a:lnSpc>
                <a:spcPct val="112000"/>
              </a:lnSpc>
              <a:buNone/>
              <a:defRPr sz="2175" b="0">
                <a:solidFill>
                  <a:srgbClr val="242638"/>
                </a:solidFill>
                <a:latin typeface="Arial"/>
                <a:ea typeface="Arial"/>
                <a:cs typeface="Arial"/>
              </a:defRPr>
            </a:pPr>
            <a:r>
              <a:rPr sz="2175" b="0">
                <a:solidFill>
                  <a:srgbClr val="242638"/>
                </a:solidFill>
                <a:latin typeface="Arial"/>
                <a:ea typeface="Arial"/>
                <a:cs typeface="Arial"/>
              </a:rPr>
              <a:t>The proposed shift must not overlap assigned shifts.</a:t>
            </a:r>
          </a:p>
        </p:txBody>
      </p:sp>
      <p:sp>
        <p:nvSpPr>
          <p:cNvPr id="8" name="04">
            <a:extLst xmlns:a="http://schemas.openxmlformats.org/drawingml/2006/main">
              <a:ext uri="{FF2B5EF4-FFF2-40B4-BE49-F238E27FC236}">
                <a16:creationId xmlns:a16="http://schemas.microsoft.com/office/drawing/2014/main" id="{89536533-B8FD-41F3-B975-D370E85666FC}"/>
              </a:ext>
            </a:extLst>
          </p:cNvPr>
          <p:cNvSpPr>
            <a:spLocks xmlns:a="http://schemas.openxmlformats.org/drawingml/2006/main" noGrp="1"/>
          </p:cNvSpPr>
          <p:nvPr/>
        </p:nvSpPr>
        <p:spPr>
          <a:xfrm xmlns:a="http://schemas.openxmlformats.org/drawingml/2006/main">
            <a:off x="685800" y="3971925"/>
            <a:ext cx="714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550" b="1">
                <a:solidFill>
                  <a:srgbClr val="574CE5"/>
                </a:solidFill>
                <a:latin typeface="Arial"/>
                <a:ea typeface="Arial"/>
                <a:cs typeface="Arial"/>
              </a:defRPr>
            </a:defPPr>
          </a:lstStyle>
          <a:p xmlns:a="http://schemas.openxmlformats.org/drawingml/2006/main">
            <a:pPr algn="l">
              <a:lnSpc>
                <a:spcPct val="112000"/>
              </a:lnSpc>
              <a:buNone/>
              <a:defRPr sz="2550" b="1">
                <a:solidFill>
                  <a:srgbClr val="574CE5"/>
                </a:solidFill>
                <a:latin typeface="Arial"/>
                <a:ea typeface="Arial"/>
                <a:cs typeface="Arial"/>
              </a:defRPr>
            </a:pPr>
            <a:r>
              <a:rPr sz="2550" b="1">
                <a:solidFill>
                  <a:srgbClr val="574CE5"/>
                </a:solidFill>
                <a:latin typeface="Arial"/>
                <a:ea typeface="Arial"/>
                <a:cs typeface="Arial"/>
              </a:rPr>
              <a:t>04</a:t>
            </a:r>
          </a:p>
        </p:txBody>
      </p:sp>
      <p:sp>
        <p:nvSpPr>
          <p:cNvPr id="9" name="Every nonoverlapping assignment needs at least 11 ">
            <a:extLst xmlns:a="http://schemas.openxmlformats.org/drawingml/2006/main">
              <a:ext uri="{FF2B5EF4-FFF2-40B4-BE49-F238E27FC236}">
                <a16:creationId xmlns:a16="http://schemas.microsoft.com/office/drawing/2014/main" id="{AA226926-74F0-45AB-A8A1-EC6D7A4DF537}"/>
              </a:ext>
            </a:extLst>
          </p:cNvPr>
          <p:cNvSpPr>
            <a:spLocks xmlns:a="http://schemas.openxmlformats.org/drawingml/2006/main" noGrp="1"/>
          </p:cNvSpPr>
          <p:nvPr/>
        </p:nvSpPr>
        <p:spPr>
          <a:xfrm xmlns:a="http://schemas.openxmlformats.org/drawingml/2006/main">
            <a:off x="1657350" y="4000500"/>
            <a:ext cx="9620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75" b="0">
                <a:solidFill>
                  <a:srgbClr val="242638"/>
                </a:solidFill>
                <a:latin typeface="Arial"/>
                <a:ea typeface="Arial"/>
                <a:cs typeface="Arial"/>
              </a:defRPr>
            </a:defPPr>
          </a:lstStyle>
          <a:p xmlns:a="http://schemas.openxmlformats.org/drawingml/2006/main">
            <a:pPr algn="l">
              <a:lnSpc>
                <a:spcPct val="112000"/>
              </a:lnSpc>
              <a:buNone/>
              <a:defRPr sz="2175" b="0">
                <a:solidFill>
                  <a:srgbClr val="242638"/>
                </a:solidFill>
                <a:latin typeface="Arial"/>
                <a:ea typeface="Arial"/>
                <a:cs typeface="Arial"/>
              </a:defRPr>
            </a:pPr>
            <a:r>
              <a:rPr sz="2175" b="0">
                <a:solidFill>
                  <a:srgbClr val="242638"/>
                </a:solidFill>
                <a:latin typeface="Arial"/>
                <a:ea typeface="Arial"/>
                <a:cs typeface="Arial"/>
              </a:rPr>
              <a:t>Every nonoverlapping assignment needs at least 11 hours of rest.</a:t>
            </a:r>
          </a:p>
        </p:txBody>
      </p:sp>
      <p:sp>
        <p:nvSpPr>
          <p:cNvPr id="10" name="05">
            <a:extLst xmlns:a="http://schemas.openxmlformats.org/drawingml/2006/main">
              <a:ext uri="{FF2B5EF4-FFF2-40B4-BE49-F238E27FC236}">
                <a16:creationId xmlns:a16="http://schemas.microsoft.com/office/drawing/2014/main" id="{3367A3C1-2E91-4270-A371-C9809D97BEC1}"/>
              </a:ext>
            </a:extLst>
          </p:cNvPr>
          <p:cNvSpPr>
            <a:spLocks xmlns:a="http://schemas.openxmlformats.org/drawingml/2006/main" noGrp="1"/>
          </p:cNvSpPr>
          <p:nvPr/>
        </p:nvSpPr>
        <p:spPr>
          <a:xfrm xmlns:a="http://schemas.openxmlformats.org/drawingml/2006/main">
            <a:off x="685800" y="4752975"/>
            <a:ext cx="714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550" b="1">
                <a:solidFill>
                  <a:srgbClr val="574CE5"/>
                </a:solidFill>
                <a:latin typeface="Arial"/>
                <a:ea typeface="Arial"/>
                <a:cs typeface="Arial"/>
              </a:defRPr>
            </a:defPPr>
          </a:lstStyle>
          <a:p xmlns:a="http://schemas.openxmlformats.org/drawingml/2006/main">
            <a:pPr algn="l">
              <a:lnSpc>
                <a:spcPct val="112000"/>
              </a:lnSpc>
              <a:buNone/>
              <a:defRPr sz="2550" b="1">
                <a:solidFill>
                  <a:srgbClr val="574CE5"/>
                </a:solidFill>
                <a:latin typeface="Arial"/>
                <a:ea typeface="Arial"/>
                <a:cs typeface="Arial"/>
              </a:defRPr>
            </a:pPr>
            <a:r>
              <a:rPr sz="2550" b="1">
                <a:solidFill>
                  <a:srgbClr val="574CE5"/>
                </a:solidFill>
                <a:latin typeface="Arial"/>
                <a:ea typeface="Arial"/>
                <a:cs typeface="Arial"/>
              </a:rPr>
              <a:t>05</a:t>
            </a:r>
          </a:p>
        </p:txBody>
      </p:sp>
      <p:sp>
        <p:nvSpPr>
          <p:cNvPr id="11" name="Assigned hours, including the shift, must stay at ">
            <a:extLst xmlns:a="http://schemas.openxmlformats.org/drawingml/2006/main">
              <a:ext uri="{FF2B5EF4-FFF2-40B4-BE49-F238E27FC236}">
                <a16:creationId xmlns:a16="http://schemas.microsoft.com/office/drawing/2014/main" id="{000D14F1-E70D-4D57-A6F2-B5D721D8E9BB}"/>
              </a:ext>
            </a:extLst>
          </p:cNvPr>
          <p:cNvSpPr>
            <a:spLocks xmlns:a="http://schemas.openxmlformats.org/drawingml/2006/main" noGrp="1"/>
          </p:cNvSpPr>
          <p:nvPr/>
        </p:nvSpPr>
        <p:spPr>
          <a:xfrm xmlns:a="http://schemas.openxmlformats.org/drawingml/2006/main">
            <a:off x="1657350" y="4781550"/>
            <a:ext cx="9620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75" b="0">
                <a:solidFill>
                  <a:srgbClr val="242638"/>
                </a:solidFill>
                <a:latin typeface="Arial"/>
                <a:ea typeface="Arial"/>
                <a:cs typeface="Arial"/>
              </a:defRPr>
            </a:defPPr>
          </a:lstStyle>
          <a:p xmlns:a="http://schemas.openxmlformats.org/drawingml/2006/main">
            <a:pPr algn="l">
              <a:lnSpc>
                <a:spcPct val="112000"/>
              </a:lnSpc>
              <a:buNone/>
              <a:defRPr sz="2175" b="0">
                <a:solidFill>
                  <a:srgbClr val="242638"/>
                </a:solidFill>
                <a:latin typeface="Arial"/>
                <a:ea typeface="Arial"/>
                <a:cs typeface="Arial"/>
              </a:defRPr>
            </a:pPr>
            <a:r>
              <a:rPr sz="2175" b="0">
                <a:solidFill>
                  <a:srgbClr val="242638"/>
                </a:solidFill>
                <a:latin typeface="Arial"/>
                <a:ea typeface="Arial"/>
                <a:cs typeface="Arial"/>
              </a:rPr>
              <a:t>Assigned hours, including the shift, must stay at or below 40 per week.</a:t>
            </a:r>
          </a:p>
        </p:txBody>
      </p:sp>
      <p:sp>
        <p:nvSpPr>
          <p:cNvPr id="12" name="Exactly 11 hours and 40 hours pass. Weeks start Mo">
            <a:extLst xmlns:a="http://schemas.openxmlformats.org/drawingml/2006/main">
              <a:ext uri="{FF2B5EF4-FFF2-40B4-BE49-F238E27FC236}">
                <a16:creationId xmlns:a16="http://schemas.microsoft.com/office/drawing/2014/main" id="{063485E0-A3E3-40EF-B056-8077A1C9F57E}"/>
              </a:ext>
            </a:extLst>
          </p:cNvPr>
          <p:cNvSpPr>
            <a:spLocks xmlns:a="http://schemas.openxmlformats.org/drawingml/2006/main" noGrp="1"/>
          </p:cNvSpPr>
          <p:nvPr/>
        </p:nvSpPr>
        <p:spPr>
          <a:xfrm xmlns:a="http://schemas.openxmlformats.org/drawingml/2006/main">
            <a:off x="685800" y="5924550"/>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025" b="1">
                <a:solidFill>
                  <a:srgbClr val="574CE5"/>
                </a:solidFill>
                <a:latin typeface="Arial"/>
                <a:ea typeface="Arial"/>
                <a:cs typeface="Arial"/>
              </a:defRPr>
            </a:defPPr>
          </a:lstStyle>
          <a:p xmlns:a="http://schemas.openxmlformats.org/drawingml/2006/main">
            <a:pPr algn="l">
              <a:lnSpc>
                <a:spcPct val="112000"/>
              </a:lnSpc>
              <a:buNone/>
              <a:defRPr sz="2025" b="1">
                <a:solidFill>
                  <a:srgbClr val="574CE5"/>
                </a:solidFill>
                <a:latin typeface="Arial"/>
                <a:ea typeface="Arial"/>
                <a:cs typeface="Arial"/>
              </a:defRPr>
            </a:pPr>
            <a:r>
              <a:rPr sz="2025" b="1">
                <a:solidFill>
                  <a:srgbClr val="574CE5"/>
                </a:solidFill>
                <a:latin typeface="Arial"/>
                <a:ea typeface="Arial"/>
                <a:cs typeface="Arial"/>
              </a:rPr>
              <a:t>Exactly 11 hours and 40 hours pass. Weeks start Monday.</a:t>
            </a:r>
          </a:p>
        </p:txBody>
      </p:sp>
    </p:spTree>
    <p:extLst>
      <p:ext uri="{BB962C8B-B14F-4D97-AF65-F5344CB8AC3E}">
        <p14:creationId xmlns:p14="http://schemas.microsoft.com/office/powerpoint/2010/main" val="927330433"/>
      </p:ext>
    </p:extLst>
  </p:cSld>
</p:sld>
</file>

<file path=ppt/slides/slide5.xml><?xml version="1.0" encoding="utf-8"?>
<p:sld xmlns:p="http://schemas.openxmlformats.org/presentationml/2006/main">
  <p:cSld>
    <p:bg>
      <p:bgPr>
        <a:solidFill xmlns:a="http://schemas.openxmlformats.org/drawingml/2006/main">
          <a:srgbClr val="F7F8FC"/>
        </a:solidFill>
      </p:bgPr>
    </p:bg>
    <p:spTree>
      <p:nvGrpSpPr>
        <p:cNvPr id="1" name=""/>
        <p:cNvGrpSpPr/>
        <p:nvPr/>
      </p:nvGrpSpPr>
      <p:grpSpPr>
        <a:xfrm xmlns:a="http://schemas.openxmlformats.org/drawingml/2006/main"/>
      </p:grpSpPr>
      <p:sp>
        <p:nvSpPr>
          <p:cNvPr id="5" name="Architecture and stack">
            <a:extLst xmlns:a="http://schemas.openxmlformats.org/drawingml/2006/main">
              <a:ext uri="{FF2B5EF4-FFF2-40B4-BE49-F238E27FC236}">
                <a16:creationId xmlns:a16="http://schemas.microsoft.com/office/drawing/2014/main" id="{57210B57-4435-4092-8FA9-C6895E8D00DE}"/>
              </a:ext>
            </a:extLst>
          </p:cNvPr>
          <p:cNvSpPr>
            <a:spLocks xmlns:a="http://schemas.openxmlformats.org/drawingml/2006/main" noGrp="1"/>
          </p:cNvSpPr>
          <p:nvPr/>
        </p:nvSpPr>
        <p:spPr>
          <a:xfrm xmlns:a="http://schemas.openxmlformats.org/drawingml/2006/main">
            <a:off x="685800" y="523875"/>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750" b="1">
                <a:solidFill>
                  <a:srgbClr val="242638"/>
                </a:solidFill>
                <a:latin typeface="Arial"/>
                <a:ea typeface="Arial"/>
                <a:cs typeface="Arial"/>
              </a:defRPr>
            </a:defPPr>
          </a:lstStyle>
          <a:p xmlns:a="http://schemas.openxmlformats.org/drawingml/2006/main">
            <a:pPr algn="l">
              <a:lnSpc>
                <a:spcPct val="112000"/>
              </a:lnSpc>
              <a:buNone/>
              <a:defRPr sz="3750" b="1">
                <a:solidFill>
                  <a:srgbClr val="242638"/>
                </a:solidFill>
                <a:latin typeface="Arial"/>
                <a:ea typeface="Arial"/>
                <a:cs typeface="Arial"/>
              </a:defRPr>
            </a:pPr>
            <a:r>
              <a:rPr sz="3750" b="1">
                <a:solidFill>
                  <a:srgbClr val="242638"/>
                </a:solidFill>
                <a:latin typeface="Arial"/>
                <a:ea typeface="Arial"/>
                <a:cs typeface="Arial"/>
              </a:rPr>
              <a:t>Architecture and stack</a:t>
            </a:r>
          </a:p>
        </p:txBody>
      </p:sp>
      <p:graphicFrame>
        <p:nvGraphicFramePr>
          <p:cNvPr id="2" name="">
            <a:extLst xmlns:a="http://schemas.openxmlformats.org/drawingml/2006/main">
              <a:ext uri="{FF2B5EF4-FFF2-40B4-BE49-F238E27FC236}">
                <a16:creationId xmlns:a16="http://schemas.microsoft.com/office/drawing/2014/main" id="{44242A88-746D-44EF-B8FE-DFC5554AEC21}"/>
              </a:ext>
            </a:extLst>
          </p:cNvPr>
          <p:cNvGraphicFramePr/>
          <p:nvPr/>
        </p:nvGraphicFramePr>
        <p:xfrm>
          <a:off xmlns:a="http://schemas.openxmlformats.org/drawingml/2006/main" x="685800" y="1647825"/>
          <a:ext xmlns:a="http://schemas.openxmlformats.org/drawingml/2006/main" cx="10820400" cy="3476625"/>
        </p:xfrm>
        <a:graphic xmlns:a="http://schemas.openxmlformats.org/drawingml/2006/main">
          <a:graphicData uri="http://schemas.openxmlformats.org/drawingml/2006/table">
            <a:tbl>
              <a:tblPr/>
              <a:tblGrid>
                <a:gridCol w="1905000"/>
                <a:gridCol w="3857625"/>
                <a:gridCol w="5057775"/>
              </a:tblGrid>
              <a:tr h="695325">
                <a:tc>
                  <a:txBody>
                    <a:bodyPr/>
                    <a:lstStyle/>
                    <a:p>
                      <a:r>
                        <a:rPr sz="1950" b="1">
                          <a:solidFill>
                            <a:srgbClr val="FFFFFF"/>
                          </a:solidFill>
                          <a:latin typeface="Arial"/>
                          <a:ea typeface="Arial"/>
                          <a:cs typeface="Arial"/>
                        </a:rPr>
                        <a:t>Layer</a:t>
                      </a:r>
                    </a:p>
                  </a:txBody>
                  <a:tcPr marL="91440" marR="91440" marT="45720" marB="45720">
                    <a:solidFill>
                      <a:srgbClr val="574CE5"/>
                    </a:solidFill>
                  </a:tcPr>
                </a:tc>
                <a:tc>
                  <a:txBody>
                    <a:bodyPr/>
                    <a:lstStyle/>
                    <a:p>
                      <a:r>
                        <a:rPr sz="1950" b="1">
                          <a:solidFill>
                            <a:srgbClr val="FFFFFF"/>
                          </a:solidFill>
                          <a:latin typeface="Arial"/>
                          <a:ea typeface="Arial"/>
                          <a:cs typeface="Arial"/>
                        </a:rPr>
                        <a:t>Technology</a:t>
                      </a:r>
                    </a:p>
                  </a:txBody>
                  <a:tcPr marL="91440" marR="91440" marT="45720" marB="45720">
                    <a:solidFill>
                      <a:srgbClr val="574CE5"/>
                    </a:solidFill>
                  </a:tcPr>
                </a:tc>
                <a:tc>
                  <a:txBody>
                    <a:bodyPr/>
                    <a:lstStyle/>
                    <a:p>
                      <a:r>
                        <a:rPr sz="1950" b="1">
                          <a:solidFill>
                            <a:srgbClr val="FFFFFF"/>
                          </a:solidFill>
                          <a:latin typeface="Arial"/>
                          <a:ea typeface="Arial"/>
                          <a:cs typeface="Arial"/>
                        </a:rPr>
                        <a:t>Responsibility</a:t>
                      </a:r>
                    </a:p>
                  </a:txBody>
                  <a:tcPr marL="91440" marR="91440" marT="45720" marB="45720">
                    <a:solidFill>
                      <a:srgbClr val="574CE5"/>
                    </a:solidFill>
                  </a:tcPr>
                </a:tc>
              </a:tr>
              <a:tr h="695325">
                <a:tc>
                  <a:txBody>
                    <a:bodyPr/>
                    <a:lstStyle/>
                    <a:p>
                      <a:r>
                        <a:rPr sz="1950" b="0">
                          <a:solidFill>
                            <a:srgbClr val="242638"/>
                          </a:solidFill>
                          <a:latin typeface="Arial"/>
                          <a:ea typeface="Arial"/>
                          <a:cs typeface="Arial"/>
                        </a:rPr>
                        <a:t>Frontend</a:t>
                      </a:r>
                    </a:p>
                  </a:txBody>
                  <a:tcPr marL="91440" marR="91440" marT="45720" marB="45720">
                    <a:solidFill>
                      <a:srgbClr val="FFFFFF"/>
                    </a:solidFill>
                  </a:tcPr>
                </a:tc>
                <a:tc>
                  <a:txBody>
                    <a:bodyPr/>
                    <a:lstStyle/>
                    <a:p>
                      <a:r>
                        <a:rPr sz="1950" b="0">
                          <a:solidFill>
                            <a:srgbClr val="242638"/>
                          </a:solidFill>
                          <a:latin typeface="Arial"/>
                          <a:ea typeface="Arial"/>
                          <a:cs typeface="Arial"/>
                        </a:rPr>
                        <a:t>HTML, CSS, JavaScript</a:t>
                      </a:r>
                    </a:p>
                  </a:txBody>
                  <a:tcPr marL="91440" marR="91440" marT="45720" marB="45720">
                    <a:solidFill>
                      <a:srgbClr val="FFFFFF"/>
                    </a:solidFill>
                  </a:tcPr>
                </a:tc>
                <a:tc>
                  <a:txBody>
                    <a:bodyPr/>
                    <a:lstStyle/>
                    <a:p>
                      <a:r>
                        <a:rPr sz="1950" b="0">
                          <a:solidFill>
                            <a:srgbClr val="242638"/>
                          </a:solidFill>
                          <a:latin typeface="Arial"/>
                          <a:ea typeface="Arial"/>
                          <a:cs typeface="Arial"/>
                        </a:rPr>
                        <a:t>Calendar, listings and history</a:t>
                      </a:r>
                    </a:p>
                  </a:txBody>
                  <a:tcPr marL="91440" marR="91440" marT="45720" marB="45720">
                    <a:solidFill>
                      <a:srgbClr val="FFFFFF"/>
                    </a:solidFill>
                  </a:tcPr>
                </a:tc>
              </a:tr>
              <a:tr h="695325">
                <a:tc>
                  <a:txBody>
                    <a:bodyPr/>
                    <a:lstStyle/>
                    <a:p>
                      <a:r>
                        <a:rPr sz="1950" b="0">
                          <a:solidFill>
                            <a:srgbClr val="242638"/>
                          </a:solidFill>
                          <a:latin typeface="Arial"/>
                          <a:ea typeface="Arial"/>
                          <a:cs typeface="Arial"/>
                        </a:rPr>
                        <a:t>Backend</a:t>
                      </a:r>
                    </a:p>
                  </a:txBody>
                  <a:tcPr marL="91440" marR="91440" marT="45720" marB="45720">
                    <a:solidFill>
                      <a:srgbClr val="FFFFFF"/>
                    </a:solidFill>
                  </a:tcPr>
                </a:tc>
                <a:tc>
                  <a:txBody>
                    <a:bodyPr/>
                    <a:lstStyle/>
                    <a:p>
                      <a:r>
                        <a:rPr sz="1950" b="0">
                          <a:solidFill>
                            <a:srgbClr val="242638"/>
                          </a:solidFill>
                          <a:latin typeface="Arial"/>
                          <a:ea typeface="Arial"/>
                          <a:cs typeface="Arial"/>
                        </a:rPr>
                        <a:t>Node.js 24 HTTP server</a:t>
                      </a:r>
                    </a:p>
                  </a:txBody>
                  <a:tcPr marL="91440" marR="91440" marT="45720" marB="45720">
                    <a:solidFill>
                      <a:srgbClr val="FFFFFF"/>
                    </a:solidFill>
                  </a:tcPr>
                </a:tc>
                <a:tc>
                  <a:txBody>
                    <a:bodyPr/>
                    <a:lstStyle/>
                    <a:p>
                      <a:r>
                        <a:rPr sz="1950" b="0">
                          <a:solidFill>
                            <a:srgbClr val="242638"/>
                          </a:solidFill>
                          <a:latin typeface="Arial"/>
                          <a:ea typeface="Arial"/>
                          <a:cs typeface="Arial"/>
                        </a:rPr>
                        <a:t>API, permissions and validation</a:t>
                      </a:r>
                    </a:p>
                  </a:txBody>
                  <a:tcPr marL="91440" marR="91440" marT="45720" marB="45720">
                    <a:solidFill>
                      <a:srgbClr val="FFFFFF"/>
                    </a:solidFill>
                  </a:tcPr>
                </a:tc>
              </a:tr>
              <a:tr h="695325">
                <a:tc>
                  <a:txBody>
                    <a:bodyPr/>
                    <a:lstStyle/>
                    <a:p>
                      <a:r>
                        <a:rPr sz="1950" b="0">
                          <a:solidFill>
                            <a:srgbClr val="242638"/>
                          </a:solidFill>
                          <a:latin typeface="Arial"/>
                          <a:ea typeface="Arial"/>
                          <a:cs typeface="Arial"/>
                        </a:rPr>
                        <a:t>Storage</a:t>
                      </a:r>
                    </a:p>
                  </a:txBody>
                  <a:tcPr marL="91440" marR="91440" marT="45720" marB="45720">
                    <a:solidFill>
                      <a:srgbClr val="FFFFFF"/>
                    </a:solidFill>
                  </a:tcPr>
                </a:tc>
                <a:tc>
                  <a:txBody>
                    <a:bodyPr/>
                    <a:lstStyle/>
                    <a:p>
                      <a:r>
                        <a:rPr sz="1950" b="0">
                          <a:solidFill>
                            <a:srgbClr val="242638"/>
                          </a:solidFill>
                          <a:latin typeface="Arial"/>
                          <a:ea typeface="Arial"/>
                          <a:cs typeface="Arial"/>
                        </a:rPr>
                        <a:t>Built-in SQLite</a:t>
                      </a:r>
                    </a:p>
                  </a:txBody>
                  <a:tcPr marL="91440" marR="91440" marT="45720" marB="45720">
                    <a:solidFill>
                      <a:srgbClr val="FFFFFF"/>
                    </a:solidFill>
                  </a:tcPr>
                </a:tc>
                <a:tc>
                  <a:txBody>
                    <a:bodyPr/>
                    <a:lstStyle/>
                    <a:p>
                      <a:r>
                        <a:rPr sz="1950" b="0">
                          <a:solidFill>
                            <a:srgbClr val="242638"/>
                          </a:solidFill>
                          <a:latin typeface="Arial"/>
                          <a:ea typeface="Arial"/>
                          <a:cs typeface="Arial"/>
                        </a:rPr>
                        <a:t>Saved state and atomic updates</a:t>
                      </a:r>
                    </a:p>
                  </a:txBody>
                  <a:tcPr marL="91440" marR="91440" marT="45720" marB="45720">
                    <a:solidFill>
                      <a:srgbClr val="FFFFFF"/>
                    </a:solidFill>
                  </a:tcPr>
                </a:tc>
              </a:tr>
              <a:tr h="695325">
                <a:tc>
                  <a:txBody>
                    <a:bodyPr/>
                    <a:lstStyle/>
                    <a:p>
                      <a:r>
                        <a:rPr sz="1950" b="0">
                          <a:solidFill>
                            <a:srgbClr val="242638"/>
                          </a:solidFill>
                          <a:latin typeface="Arial"/>
                          <a:ea typeface="Arial"/>
                          <a:cs typeface="Arial"/>
                        </a:rPr>
                        <a:t>Testing</a:t>
                      </a:r>
                    </a:p>
                  </a:txBody>
                  <a:tcPr marL="91440" marR="91440" marT="45720" marB="45720">
                    <a:solidFill>
                      <a:srgbClr val="FFFFFF"/>
                    </a:solidFill>
                  </a:tcPr>
                </a:tc>
                <a:tc>
                  <a:txBody>
                    <a:bodyPr/>
                    <a:lstStyle/>
                    <a:p>
                      <a:r>
                        <a:rPr sz="1950" b="0">
                          <a:solidFill>
                            <a:srgbClr val="242638"/>
                          </a:solidFill>
                          <a:latin typeface="Arial"/>
                          <a:ea typeface="Arial"/>
                          <a:cs typeface="Arial"/>
                        </a:rPr>
                        <a:t>Node test runner</a:t>
                      </a:r>
                    </a:p>
                  </a:txBody>
                  <a:tcPr marL="91440" marR="91440" marT="45720" marB="45720">
                    <a:solidFill>
                      <a:srgbClr val="FFFFFF"/>
                    </a:solidFill>
                  </a:tcPr>
                </a:tc>
                <a:tc>
                  <a:txBody>
                    <a:bodyPr/>
                    <a:lstStyle/>
                    <a:p>
                      <a:r>
                        <a:rPr sz="1950" b="0">
                          <a:solidFill>
                            <a:srgbClr val="242638"/>
                          </a:solidFill>
                          <a:latin typeface="Arial"/>
                          <a:ea typeface="Arial"/>
                          <a:cs typeface="Arial"/>
                        </a:rPr>
                        <a:t>Rules, workflows and persistence</a:t>
                      </a:r>
                    </a:p>
                  </a:txBody>
                  <a:tcPr marL="91440" marR="91440" marT="45720" marB="45720">
                    <a:solidFill>
                      <a:srgbClr val="FFFFFF"/>
                    </a:solidFill>
                  </a:tcPr>
                </a:tc>
              </a:tr>
            </a:tbl>
          </a:graphicData>
        </a:graphic>
      </p:graphicFrame>
      <p:sp>
        <p:nvSpPr>
          <p:cNvPr id="3" name="The browser exchanges JSON with the backend using ">
            <a:extLst xmlns:a="http://schemas.openxmlformats.org/drawingml/2006/main">
              <a:ext uri="{FF2B5EF4-FFF2-40B4-BE49-F238E27FC236}">
                <a16:creationId xmlns:a16="http://schemas.microsoft.com/office/drawing/2014/main" id="{7841701D-4A0C-4ADD-8A34-AFBC116BBF20}"/>
              </a:ext>
            </a:extLst>
          </p:cNvPr>
          <p:cNvSpPr>
            <a:spLocks xmlns:a="http://schemas.openxmlformats.org/drawingml/2006/main" noGrp="1"/>
          </p:cNvSpPr>
          <p:nvPr/>
        </p:nvSpPr>
        <p:spPr>
          <a:xfrm xmlns:a="http://schemas.openxmlformats.org/drawingml/2006/main">
            <a:off x="685800" y="546735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0">
                <a:solidFill>
                  <a:srgbClr val="242638"/>
                </a:solidFill>
                <a:latin typeface="Arial"/>
                <a:ea typeface="Arial"/>
                <a:cs typeface="Arial"/>
              </a:defRPr>
            </a:defPPr>
          </a:lstStyle>
          <a:p xmlns:a="http://schemas.openxmlformats.org/drawingml/2006/main">
            <a:pPr algn="l">
              <a:lnSpc>
                <a:spcPct val="112000"/>
              </a:lnSpc>
              <a:buNone/>
              <a:defRPr sz="2100" b="0">
                <a:solidFill>
                  <a:srgbClr val="242638"/>
                </a:solidFill>
                <a:latin typeface="Arial"/>
                <a:ea typeface="Arial"/>
                <a:cs typeface="Arial"/>
              </a:defRPr>
            </a:pPr>
            <a:r>
              <a:rPr sz="2100" b="0">
                <a:solidFill>
                  <a:srgbClr val="242638"/>
                </a:solidFill>
                <a:latin typeface="Arial"/>
                <a:ea typeface="Arial"/>
                <a:cs typeface="Arial"/>
              </a:rPr>
              <a:t>The browser exchanges JSON with the backend using fetch.</a:t>
            </a:r>
          </a:p>
        </p:txBody>
      </p:sp>
      <p:sp>
        <p:nvSpPr>
          <p:cNvPr id="4" name="GET /api/state loads data. POST /api/actions submi">
            <a:extLst xmlns:a="http://schemas.openxmlformats.org/drawingml/2006/main">
              <a:ext uri="{FF2B5EF4-FFF2-40B4-BE49-F238E27FC236}">
                <a16:creationId xmlns:a16="http://schemas.microsoft.com/office/drawing/2014/main" id="{F3208F9F-766F-422F-BC0A-E4A21153B850}"/>
              </a:ext>
            </a:extLst>
          </p:cNvPr>
          <p:cNvSpPr>
            <a:spLocks xmlns:a="http://schemas.openxmlformats.org/drawingml/2006/main" noGrp="1"/>
          </p:cNvSpPr>
          <p:nvPr/>
        </p:nvSpPr>
        <p:spPr>
          <a:xfrm xmlns:a="http://schemas.openxmlformats.org/drawingml/2006/main">
            <a:off x="685800" y="603885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875" b="0">
                <a:solidFill>
                  <a:srgbClr val="62687A"/>
                </a:solidFill>
                <a:latin typeface="Arial"/>
                <a:ea typeface="Arial"/>
                <a:cs typeface="Arial"/>
              </a:defRPr>
            </a:defPPr>
          </a:lstStyle>
          <a:p xmlns:a="http://schemas.openxmlformats.org/drawingml/2006/main">
            <a:pPr algn="l">
              <a:lnSpc>
                <a:spcPct val="112000"/>
              </a:lnSpc>
              <a:buNone/>
              <a:defRPr sz="1875" b="0">
                <a:solidFill>
                  <a:srgbClr val="62687A"/>
                </a:solidFill>
                <a:latin typeface="Arial"/>
                <a:ea typeface="Arial"/>
                <a:cs typeface="Arial"/>
              </a:defRPr>
            </a:pPr>
            <a:r>
              <a:rPr sz="1875" b="0">
                <a:solidFill>
                  <a:srgbClr val="62687A"/>
                </a:solidFill>
                <a:latin typeface="Arial"/>
                <a:ea typeface="Arial"/>
                <a:cs typeface="Arial"/>
              </a:rPr>
              <a:t>GET /api/state loads data. POST /api/actions submits a change.</a:t>
            </a:r>
          </a:p>
        </p:txBody>
      </p:sp>
    </p:spTree>
    <p:extLst>
      <p:ext uri="{BB962C8B-B14F-4D97-AF65-F5344CB8AC3E}">
        <p14:creationId xmlns:p14="http://schemas.microsoft.com/office/powerpoint/2010/main" val="1272305339"/>
      </p:ext>
    </p:extLst>
  </p:cSld>
</p:sld>
</file>

<file path=ppt/slides/slide6.xml><?xml version="1.0" encoding="utf-8"?>
<p:sld xmlns:p="http://schemas.openxmlformats.org/presentationml/2006/main">
  <p:cSld>
    <p:bg>
      <p:bgPr>
        <a:solidFill xmlns:a="http://schemas.openxmlformats.org/drawingml/2006/main">
          <a:srgbClr val="222438"/>
        </a:solidFill>
      </p:bgPr>
    </p:bg>
    <p:spTree>
      <p:nvGrpSpPr>
        <p:cNvPr id="1" name=""/>
        <p:cNvGrpSpPr/>
        <p:nvPr/>
      </p:nvGrpSpPr>
      <p:grpSpPr>
        <a:xfrm xmlns:a="http://schemas.openxmlformats.org/drawingml/2006/main"/>
      </p:grpSpPr>
      <p:sp>
        <p:nvSpPr>
          <p:cNvPr id="10" name="Persistence and concurrent actions">
            <a:extLst xmlns:a="http://schemas.openxmlformats.org/drawingml/2006/main">
              <a:ext uri="{FF2B5EF4-FFF2-40B4-BE49-F238E27FC236}">
                <a16:creationId xmlns:a16="http://schemas.microsoft.com/office/drawing/2014/main" id="{6E04A199-ED2F-4BEC-AB55-9F8F86B35CF9}"/>
              </a:ext>
            </a:extLst>
          </p:cNvPr>
          <p:cNvSpPr>
            <a:spLocks xmlns:a="http://schemas.openxmlformats.org/drawingml/2006/main" noGrp="1"/>
          </p:cNvSpPr>
          <p:nvPr/>
        </p:nvSpPr>
        <p:spPr>
          <a:xfrm xmlns:a="http://schemas.openxmlformats.org/drawingml/2006/main">
            <a:off x="685800" y="523875"/>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750" b="1">
                <a:solidFill>
                  <a:srgbClr val="FFFFFF"/>
                </a:solidFill>
                <a:latin typeface="Arial"/>
                <a:ea typeface="Arial"/>
                <a:cs typeface="Arial"/>
              </a:defRPr>
            </a:defPPr>
          </a:lstStyle>
          <a:p xmlns:a="http://schemas.openxmlformats.org/drawingml/2006/main">
            <a:pPr algn="l">
              <a:lnSpc>
                <a:spcPct val="112000"/>
              </a:lnSpc>
              <a:buNone/>
              <a:defRPr sz="3750" b="1">
                <a:solidFill>
                  <a:srgbClr val="FFFFFF"/>
                </a:solidFill>
                <a:latin typeface="Arial"/>
                <a:ea typeface="Arial"/>
                <a:cs typeface="Arial"/>
              </a:defRPr>
            </a:pPr>
            <a:r>
              <a:rPr sz="3750" b="1">
                <a:solidFill>
                  <a:srgbClr val="FFFFFF"/>
                </a:solidFill>
                <a:latin typeface="Arial"/>
                <a:ea typeface="Arial"/>
                <a:cs typeface="Arial"/>
              </a:rPr>
              <a:t>Persistence and concurrent actions</a:t>
            </a:r>
          </a:p>
        </p:txBody>
      </p:sp>
      <p:sp>
        <p:nvSpPr>
          <p:cNvPr id="2" name="Saved state">
            <a:extLst xmlns:a="http://schemas.openxmlformats.org/drawingml/2006/main">
              <a:ext uri="{FF2B5EF4-FFF2-40B4-BE49-F238E27FC236}">
                <a16:creationId xmlns:a16="http://schemas.microsoft.com/office/drawing/2014/main" id="{AE8D5F92-751E-491A-82AF-CBD95447FD6B}"/>
              </a:ext>
            </a:extLst>
          </p:cNvPr>
          <p:cNvSpPr>
            <a:spLocks xmlns:a="http://schemas.openxmlformats.org/drawingml/2006/main" noGrp="1"/>
          </p:cNvSpPr>
          <p:nvPr/>
        </p:nvSpPr>
        <p:spPr>
          <a:xfrm xmlns:a="http://schemas.openxmlformats.org/drawingml/2006/main">
            <a:off x="685800" y="1666875"/>
            <a:ext cx="314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250" b="1">
                <a:solidFill>
                  <a:srgbClr val="E1EEAE"/>
                </a:solidFill>
                <a:latin typeface="Arial"/>
                <a:ea typeface="Arial"/>
                <a:cs typeface="Arial"/>
              </a:defRPr>
            </a:defPPr>
          </a:lstStyle>
          <a:p xmlns:a="http://schemas.openxmlformats.org/drawingml/2006/main">
            <a:pPr algn="l">
              <a:lnSpc>
                <a:spcPct val="112000"/>
              </a:lnSpc>
              <a:buNone/>
              <a:defRPr sz="2250" b="1">
                <a:solidFill>
                  <a:srgbClr val="E1EEAE"/>
                </a:solidFill>
                <a:latin typeface="Arial"/>
                <a:ea typeface="Arial"/>
                <a:cs typeface="Arial"/>
              </a:defRPr>
            </a:pPr>
            <a:r>
              <a:rPr sz="2250" b="1">
                <a:solidFill>
                  <a:srgbClr val="E1EEAE"/>
                </a:solidFill>
                <a:latin typeface="Arial"/>
                <a:ea typeface="Arial"/>
                <a:cs typeface="Arial"/>
              </a:rPr>
              <a:t>Saved state</a:t>
            </a:r>
          </a:p>
        </p:txBody>
      </p:sp>
      <p:sp>
        <p:nvSpPr>
          <p:cNvPr id="3" name="SQLite stores people, shifts, listings and action ">
            <a:extLst xmlns:a="http://schemas.openxmlformats.org/drawingml/2006/main">
              <a:ext uri="{FF2B5EF4-FFF2-40B4-BE49-F238E27FC236}">
                <a16:creationId xmlns:a16="http://schemas.microsoft.com/office/drawing/2014/main" id="{1912ABE6-C477-4846-86A9-ADE8FBE0DDCB}"/>
              </a:ext>
            </a:extLst>
          </p:cNvPr>
          <p:cNvSpPr>
            <a:spLocks xmlns:a="http://schemas.openxmlformats.org/drawingml/2006/main" noGrp="1"/>
          </p:cNvSpPr>
          <p:nvPr/>
        </p:nvSpPr>
        <p:spPr>
          <a:xfrm xmlns:a="http://schemas.openxmlformats.org/drawingml/2006/main">
            <a:off x="4210050" y="1676400"/>
            <a:ext cx="7048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0">
                <a:solidFill>
                  <a:srgbClr val="FFFFFF"/>
                </a:solidFill>
                <a:latin typeface="Arial"/>
                <a:ea typeface="Arial"/>
                <a:cs typeface="Arial"/>
              </a:defRPr>
            </a:defPPr>
          </a:lstStyle>
          <a:p xmlns:a="http://schemas.openxmlformats.org/drawingml/2006/main">
            <a:pPr algn="l">
              <a:lnSpc>
                <a:spcPct val="112000"/>
              </a:lnSpc>
              <a:buNone/>
              <a:defRPr sz="2100" b="0">
                <a:solidFill>
                  <a:srgbClr val="FFFFFF"/>
                </a:solidFill>
                <a:latin typeface="Arial"/>
                <a:ea typeface="Arial"/>
                <a:cs typeface="Arial"/>
              </a:defRPr>
            </a:pPr>
            <a:r>
              <a:rPr sz="2100" b="0">
                <a:solidFill>
                  <a:srgbClr val="FFFFFF"/>
                </a:solidFill>
                <a:latin typeface="Arial"/>
                <a:ea typeface="Arial"/>
                <a:cs typeface="Arial"/>
              </a:rPr>
              <a:t>SQLite stores people, shifts, listings and action history.</a:t>
            </a:r>
          </a:p>
        </p:txBody>
      </p:sp>
      <p:sp>
        <p:nvSpPr>
          <p:cNvPr id="4" name="First startup">
            <a:extLst xmlns:a="http://schemas.openxmlformats.org/drawingml/2006/main">
              <a:ext uri="{FF2B5EF4-FFF2-40B4-BE49-F238E27FC236}">
                <a16:creationId xmlns:a16="http://schemas.microsoft.com/office/drawing/2014/main" id="{88994791-D9B8-4C36-9652-2B9309002A30}"/>
              </a:ext>
            </a:extLst>
          </p:cNvPr>
          <p:cNvSpPr>
            <a:spLocks xmlns:a="http://schemas.openxmlformats.org/drawingml/2006/main" noGrp="1"/>
          </p:cNvSpPr>
          <p:nvPr/>
        </p:nvSpPr>
        <p:spPr>
          <a:xfrm xmlns:a="http://schemas.openxmlformats.org/drawingml/2006/main">
            <a:off x="685800" y="2819400"/>
            <a:ext cx="314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250" b="1">
                <a:solidFill>
                  <a:srgbClr val="E1EEAE"/>
                </a:solidFill>
                <a:latin typeface="Arial"/>
                <a:ea typeface="Arial"/>
                <a:cs typeface="Arial"/>
              </a:defRPr>
            </a:defPPr>
          </a:lstStyle>
          <a:p xmlns:a="http://schemas.openxmlformats.org/drawingml/2006/main">
            <a:pPr algn="l">
              <a:lnSpc>
                <a:spcPct val="112000"/>
              </a:lnSpc>
              <a:buNone/>
              <a:defRPr sz="2250" b="1">
                <a:solidFill>
                  <a:srgbClr val="E1EEAE"/>
                </a:solidFill>
                <a:latin typeface="Arial"/>
                <a:ea typeface="Arial"/>
                <a:cs typeface="Arial"/>
              </a:defRPr>
            </a:pPr>
            <a:r>
              <a:rPr sz="2250" b="1">
                <a:solidFill>
                  <a:srgbClr val="E1EEAE"/>
                </a:solidFill>
                <a:latin typeface="Arial"/>
                <a:ea typeface="Arial"/>
                <a:cs typeface="Arial"/>
              </a:rPr>
              <a:t>First startup</a:t>
            </a:r>
          </a:p>
        </p:txBody>
      </p:sp>
      <p:sp>
        <p:nvSpPr>
          <p:cNvPr id="5" name="The backend loads the organizer seed only when no ">
            <a:extLst xmlns:a="http://schemas.openxmlformats.org/drawingml/2006/main">
              <a:ext uri="{FF2B5EF4-FFF2-40B4-BE49-F238E27FC236}">
                <a16:creationId xmlns:a16="http://schemas.microsoft.com/office/drawing/2014/main" id="{370CC8A6-8EF2-4A9E-B724-EA44613A9104}"/>
              </a:ext>
            </a:extLst>
          </p:cNvPr>
          <p:cNvSpPr>
            <a:spLocks xmlns:a="http://schemas.openxmlformats.org/drawingml/2006/main" noGrp="1"/>
          </p:cNvSpPr>
          <p:nvPr/>
        </p:nvSpPr>
        <p:spPr>
          <a:xfrm xmlns:a="http://schemas.openxmlformats.org/drawingml/2006/main">
            <a:off x="4210050" y="2828925"/>
            <a:ext cx="7048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0">
                <a:solidFill>
                  <a:srgbClr val="FFFFFF"/>
                </a:solidFill>
                <a:latin typeface="Arial"/>
                <a:ea typeface="Arial"/>
                <a:cs typeface="Arial"/>
              </a:defRPr>
            </a:defPPr>
          </a:lstStyle>
          <a:p xmlns:a="http://schemas.openxmlformats.org/drawingml/2006/main">
            <a:pPr algn="l">
              <a:lnSpc>
                <a:spcPct val="112000"/>
              </a:lnSpc>
              <a:buNone/>
              <a:defRPr sz="2100" b="0">
                <a:solidFill>
                  <a:srgbClr val="FFFFFF"/>
                </a:solidFill>
                <a:latin typeface="Arial"/>
                <a:ea typeface="Arial"/>
                <a:cs typeface="Arial"/>
              </a:defRPr>
            </a:pPr>
            <a:r>
              <a:rPr sz="2100" b="0">
                <a:solidFill>
                  <a:srgbClr val="FFFFFF"/>
                </a:solidFill>
                <a:latin typeface="Arial"/>
                <a:ea typeface="Arial"/>
                <a:cs typeface="Arial"/>
              </a:rPr>
              <a:t>The backend loads the organizer seed only when no saved state exists.</a:t>
            </a:r>
          </a:p>
        </p:txBody>
      </p:sp>
      <p:sp>
        <p:nvSpPr>
          <p:cNvPr id="6" name="Atomic approval">
            <a:extLst xmlns:a="http://schemas.openxmlformats.org/drawingml/2006/main">
              <a:ext uri="{FF2B5EF4-FFF2-40B4-BE49-F238E27FC236}">
                <a16:creationId xmlns:a16="http://schemas.microsoft.com/office/drawing/2014/main" id="{72B2E755-563C-4163-9D58-98E370B89319}"/>
              </a:ext>
            </a:extLst>
          </p:cNvPr>
          <p:cNvSpPr>
            <a:spLocks xmlns:a="http://schemas.openxmlformats.org/drawingml/2006/main" noGrp="1"/>
          </p:cNvSpPr>
          <p:nvPr/>
        </p:nvSpPr>
        <p:spPr>
          <a:xfrm xmlns:a="http://schemas.openxmlformats.org/drawingml/2006/main">
            <a:off x="685800" y="3971925"/>
            <a:ext cx="314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250" b="1">
                <a:solidFill>
                  <a:srgbClr val="E1EEAE"/>
                </a:solidFill>
                <a:latin typeface="Arial"/>
                <a:ea typeface="Arial"/>
                <a:cs typeface="Arial"/>
              </a:defRPr>
            </a:defPPr>
          </a:lstStyle>
          <a:p xmlns:a="http://schemas.openxmlformats.org/drawingml/2006/main">
            <a:pPr algn="l">
              <a:lnSpc>
                <a:spcPct val="112000"/>
              </a:lnSpc>
              <a:buNone/>
              <a:defRPr sz="2250" b="1">
                <a:solidFill>
                  <a:srgbClr val="E1EEAE"/>
                </a:solidFill>
                <a:latin typeface="Arial"/>
                <a:ea typeface="Arial"/>
                <a:cs typeface="Arial"/>
              </a:defRPr>
            </a:pPr>
            <a:r>
              <a:rPr sz="2250" b="1">
                <a:solidFill>
                  <a:srgbClr val="E1EEAE"/>
                </a:solidFill>
                <a:latin typeface="Arial"/>
                <a:ea typeface="Arial"/>
                <a:cs typeface="Arial"/>
              </a:rPr>
              <a:t>Atomic approval</a:t>
            </a:r>
          </a:p>
        </p:txBody>
      </p:sp>
      <p:sp>
        <p:nvSpPr>
          <p:cNvPr id="7" name="One transaction saves the assignment, listing stat">
            <a:extLst xmlns:a="http://schemas.openxmlformats.org/drawingml/2006/main">
              <a:ext uri="{FF2B5EF4-FFF2-40B4-BE49-F238E27FC236}">
                <a16:creationId xmlns:a16="http://schemas.microsoft.com/office/drawing/2014/main" id="{46931DF2-8C0B-4F95-B484-DFD3B4D77EEF}"/>
              </a:ext>
            </a:extLst>
          </p:cNvPr>
          <p:cNvSpPr>
            <a:spLocks xmlns:a="http://schemas.openxmlformats.org/drawingml/2006/main" noGrp="1"/>
          </p:cNvSpPr>
          <p:nvPr/>
        </p:nvSpPr>
        <p:spPr>
          <a:xfrm xmlns:a="http://schemas.openxmlformats.org/drawingml/2006/main">
            <a:off x="4210050" y="3981450"/>
            <a:ext cx="7048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0">
                <a:solidFill>
                  <a:srgbClr val="FFFFFF"/>
                </a:solidFill>
                <a:latin typeface="Arial"/>
                <a:ea typeface="Arial"/>
                <a:cs typeface="Arial"/>
              </a:defRPr>
            </a:defPPr>
          </a:lstStyle>
          <a:p xmlns:a="http://schemas.openxmlformats.org/drawingml/2006/main">
            <a:pPr algn="l">
              <a:lnSpc>
                <a:spcPct val="112000"/>
              </a:lnSpc>
              <a:buNone/>
              <a:defRPr sz="2100" b="0">
                <a:solidFill>
                  <a:srgbClr val="FFFFFF"/>
                </a:solidFill>
                <a:latin typeface="Arial"/>
                <a:ea typeface="Arial"/>
                <a:cs typeface="Arial"/>
              </a:defRPr>
            </a:pPr>
            <a:r>
              <a:rPr sz="2100" b="0">
                <a:solidFill>
                  <a:srgbClr val="FFFFFF"/>
                </a:solidFill>
                <a:latin typeface="Arial"/>
                <a:ea typeface="Arial"/>
                <a:cs typeface="Arial"/>
              </a:rPr>
              <a:t>One transaction saves the assignment, listing status and history together.</a:t>
            </a:r>
          </a:p>
        </p:txBody>
      </p:sp>
      <p:sp>
        <p:nvSpPr>
          <p:cNvPr id="8" name="Competing requests">
            <a:extLst xmlns:a="http://schemas.openxmlformats.org/drawingml/2006/main">
              <a:ext uri="{FF2B5EF4-FFF2-40B4-BE49-F238E27FC236}">
                <a16:creationId xmlns:a16="http://schemas.microsoft.com/office/drawing/2014/main" id="{E8916EFB-D110-497F-8AF2-740565DFD290}"/>
              </a:ext>
            </a:extLst>
          </p:cNvPr>
          <p:cNvSpPr>
            <a:spLocks xmlns:a="http://schemas.openxmlformats.org/drawingml/2006/main" noGrp="1"/>
          </p:cNvSpPr>
          <p:nvPr/>
        </p:nvSpPr>
        <p:spPr>
          <a:xfrm xmlns:a="http://schemas.openxmlformats.org/drawingml/2006/main">
            <a:off x="685800" y="5124450"/>
            <a:ext cx="314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250" b="1">
                <a:solidFill>
                  <a:srgbClr val="E1EEAE"/>
                </a:solidFill>
                <a:latin typeface="Arial"/>
                <a:ea typeface="Arial"/>
                <a:cs typeface="Arial"/>
              </a:defRPr>
            </a:defPPr>
          </a:lstStyle>
          <a:p xmlns:a="http://schemas.openxmlformats.org/drawingml/2006/main">
            <a:pPr algn="l">
              <a:lnSpc>
                <a:spcPct val="112000"/>
              </a:lnSpc>
              <a:buNone/>
              <a:defRPr sz="2250" b="1">
                <a:solidFill>
                  <a:srgbClr val="E1EEAE"/>
                </a:solidFill>
                <a:latin typeface="Arial"/>
                <a:ea typeface="Arial"/>
                <a:cs typeface="Arial"/>
              </a:defRPr>
            </a:pPr>
            <a:r>
              <a:rPr sz="2250" b="1">
                <a:solidFill>
                  <a:srgbClr val="E1EEAE"/>
                </a:solidFill>
                <a:latin typeface="Arial"/>
                <a:ea typeface="Arial"/>
                <a:cs typeface="Arial"/>
              </a:rPr>
              <a:t>Competing requests</a:t>
            </a:r>
          </a:p>
        </p:txBody>
      </p:sp>
      <p:sp>
        <p:nvSpPr>
          <p:cNvPr id="9" name="BEGIN IMMEDIATE serializes writes before reading a">
            <a:extLst xmlns:a="http://schemas.openxmlformats.org/drawingml/2006/main">
              <a:ext uri="{FF2B5EF4-FFF2-40B4-BE49-F238E27FC236}">
                <a16:creationId xmlns:a16="http://schemas.microsoft.com/office/drawing/2014/main" id="{40415F94-5794-4507-91A6-315F205DAF6F}"/>
              </a:ext>
            </a:extLst>
          </p:cNvPr>
          <p:cNvSpPr>
            <a:spLocks xmlns:a="http://schemas.openxmlformats.org/drawingml/2006/main" noGrp="1"/>
          </p:cNvSpPr>
          <p:nvPr/>
        </p:nvSpPr>
        <p:spPr>
          <a:xfrm xmlns:a="http://schemas.openxmlformats.org/drawingml/2006/main">
            <a:off x="4210050" y="5133975"/>
            <a:ext cx="7048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0">
                <a:solidFill>
                  <a:srgbClr val="FFFFFF"/>
                </a:solidFill>
                <a:latin typeface="Arial"/>
                <a:ea typeface="Arial"/>
                <a:cs typeface="Arial"/>
              </a:defRPr>
            </a:defPPr>
          </a:lstStyle>
          <a:p xmlns:a="http://schemas.openxmlformats.org/drawingml/2006/main">
            <a:pPr algn="l">
              <a:lnSpc>
                <a:spcPct val="112000"/>
              </a:lnSpc>
              <a:buNone/>
              <a:defRPr sz="2100" b="0">
                <a:solidFill>
                  <a:srgbClr val="FFFFFF"/>
                </a:solidFill>
                <a:latin typeface="Arial"/>
                <a:ea typeface="Arial"/>
                <a:cs typeface="Arial"/>
              </a:defRPr>
            </a:pPr>
            <a:r>
              <a:rPr sz="2100" b="0">
                <a:solidFill>
                  <a:srgbClr val="FFFFFF"/>
                </a:solidFill>
                <a:latin typeface="Arial"/>
                <a:ea typeface="Arial"/>
                <a:cs typeface="Arial"/>
              </a:rPr>
              <a:t>BEGIN IMMEDIATE serializes writes before reading and validating state.</a:t>
            </a:r>
          </a:p>
        </p:txBody>
      </p:sp>
    </p:spTree>
    <p:extLst>
      <p:ext uri="{BB962C8B-B14F-4D97-AF65-F5344CB8AC3E}">
        <p14:creationId xmlns:p14="http://schemas.microsoft.com/office/powerpoint/2010/main" val="2085227520"/>
      </p:ext>
    </p:extLst>
  </p:cSld>
</p:sld>
</file>

<file path=ppt/slides/slide7.xml><?xml version="1.0" encoding="utf-8"?>
<p:sld xmlns:p="http://schemas.openxmlformats.org/presentationml/2006/main">
  <p:cSld>
    <p:bg>
      <p:bgPr>
        <a:solidFill xmlns:a="http://schemas.openxmlformats.org/drawingml/2006/main">
          <a:srgbClr val="F7F8FC"/>
        </a:solidFill>
      </p:bgPr>
    </p:bg>
    <p:spTree>
      <p:nvGrpSpPr>
        <p:cNvPr id="1" name=""/>
        <p:cNvGrpSpPr/>
        <p:nvPr/>
      </p:nvGrpSpPr>
      <p:grpSpPr>
        <a:xfrm xmlns:a="http://schemas.openxmlformats.org/drawingml/2006/main"/>
      </p:grpSpPr>
      <p:sp>
        <p:nvSpPr>
          <p:cNvPr id="9" name="Verification results">
            <a:extLst xmlns:a="http://schemas.openxmlformats.org/drawingml/2006/main">
              <a:ext uri="{FF2B5EF4-FFF2-40B4-BE49-F238E27FC236}">
                <a16:creationId xmlns:a16="http://schemas.microsoft.com/office/drawing/2014/main" id="{37686A40-E4F0-4873-B135-D0CB46C851BC}"/>
              </a:ext>
            </a:extLst>
          </p:cNvPr>
          <p:cNvSpPr>
            <a:spLocks xmlns:a="http://schemas.openxmlformats.org/drawingml/2006/main" noGrp="1"/>
          </p:cNvSpPr>
          <p:nvPr/>
        </p:nvSpPr>
        <p:spPr>
          <a:xfrm xmlns:a="http://schemas.openxmlformats.org/drawingml/2006/main">
            <a:off x="685800" y="523875"/>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750" b="1">
                <a:solidFill>
                  <a:srgbClr val="242638"/>
                </a:solidFill>
                <a:latin typeface="Arial"/>
                <a:ea typeface="Arial"/>
                <a:cs typeface="Arial"/>
              </a:defRPr>
            </a:defPPr>
          </a:lstStyle>
          <a:p xmlns:a="http://schemas.openxmlformats.org/drawingml/2006/main">
            <a:pPr algn="l">
              <a:lnSpc>
                <a:spcPct val="112000"/>
              </a:lnSpc>
              <a:buNone/>
              <a:defRPr sz="3750" b="1">
                <a:solidFill>
                  <a:srgbClr val="242638"/>
                </a:solidFill>
                <a:latin typeface="Arial"/>
                <a:ea typeface="Arial"/>
                <a:cs typeface="Arial"/>
              </a:defRPr>
            </a:pPr>
            <a:r>
              <a:rPr sz="3750" b="1">
                <a:solidFill>
                  <a:srgbClr val="242638"/>
                </a:solidFill>
                <a:latin typeface="Arial"/>
                <a:ea typeface="Arial"/>
                <a:cs typeface="Arial"/>
              </a:rPr>
              <a:t>Verification results</a:t>
            </a:r>
          </a:p>
        </p:txBody>
      </p:sp>
      <p:sp>
        <p:nvSpPr>
          <p:cNvPr id="2" name="32">
            <a:extLst xmlns:a="http://schemas.openxmlformats.org/drawingml/2006/main">
              <a:ext uri="{FF2B5EF4-FFF2-40B4-BE49-F238E27FC236}">
                <a16:creationId xmlns:a16="http://schemas.microsoft.com/office/drawing/2014/main" id="{D11A6A11-984C-43FE-BC14-98F2587840DB}"/>
              </a:ext>
            </a:extLst>
          </p:cNvPr>
          <p:cNvSpPr>
            <a:spLocks xmlns:a="http://schemas.openxmlformats.org/drawingml/2006/main" noGrp="1"/>
          </p:cNvSpPr>
          <p:nvPr/>
        </p:nvSpPr>
        <p:spPr>
          <a:xfrm xmlns:a="http://schemas.openxmlformats.org/drawingml/2006/main">
            <a:off x="685800" y="1552575"/>
            <a:ext cx="3429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7500" b="1">
                <a:solidFill>
                  <a:srgbClr val="574CE5"/>
                </a:solidFill>
                <a:latin typeface="Arial"/>
                <a:ea typeface="Arial"/>
                <a:cs typeface="Arial"/>
              </a:defRPr>
            </a:defPPr>
          </a:lstStyle>
          <a:p xmlns:a="http://schemas.openxmlformats.org/drawingml/2006/main">
            <a:pPr algn="l">
              <a:lnSpc>
                <a:spcPct val="112000"/>
              </a:lnSpc>
              <a:buNone/>
              <a:defRPr sz="7500" b="1">
                <a:solidFill>
                  <a:srgbClr val="574CE5"/>
                </a:solidFill>
                <a:latin typeface="Arial"/>
                <a:ea typeface="Arial"/>
                <a:cs typeface="Arial"/>
              </a:defRPr>
            </a:pPr>
            <a:r>
              <a:rPr sz="7500" b="1">
                <a:solidFill>
                  <a:srgbClr val="574CE5"/>
                </a:solidFill>
                <a:latin typeface="Arial"/>
                <a:ea typeface="Arial"/>
                <a:cs typeface="Arial"/>
              </a:rPr>
              <a:t>32</a:t>
            </a:r>
          </a:p>
        </p:txBody>
      </p:sp>
      <p:sp>
        <p:nvSpPr>
          <p:cNvPr id="3" name="automated tests passed">
            <a:extLst xmlns:a="http://schemas.openxmlformats.org/drawingml/2006/main">
              <a:ext uri="{FF2B5EF4-FFF2-40B4-BE49-F238E27FC236}">
                <a16:creationId xmlns:a16="http://schemas.microsoft.com/office/drawing/2014/main" id="{F06B0BC8-8A50-4372-A6BA-5FF0FEF2A294}"/>
              </a:ext>
            </a:extLst>
          </p:cNvPr>
          <p:cNvSpPr>
            <a:spLocks xmlns:a="http://schemas.openxmlformats.org/drawingml/2006/main" noGrp="1"/>
          </p:cNvSpPr>
          <p:nvPr/>
        </p:nvSpPr>
        <p:spPr>
          <a:xfrm xmlns:a="http://schemas.openxmlformats.org/drawingml/2006/main">
            <a:off x="723900" y="2895600"/>
            <a:ext cx="3619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75" b="1">
                <a:solidFill>
                  <a:srgbClr val="242638"/>
                </a:solidFill>
                <a:latin typeface="Arial"/>
                <a:ea typeface="Arial"/>
                <a:cs typeface="Arial"/>
              </a:defRPr>
            </a:defPPr>
          </a:lstStyle>
          <a:p xmlns:a="http://schemas.openxmlformats.org/drawingml/2006/main">
            <a:pPr algn="l">
              <a:lnSpc>
                <a:spcPct val="112000"/>
              </a:lnSpc>
              <a:buNone/>
              <a:defRPr sz="2175" b="1">
                <a:solidFill>
                  <a:srgbClr val="242638"/>
                </a:solidFill>
                <a:latin typeface="Arial"/>
                <a:ea typeface="Arial"/>
                <a:cs typeface="Arial"/>
              </a:defRPr>
            </a:pPr>
            <a:r>
              <a:rPr sz="2175" b="1">
                <a:solidFill>
                  <a:srgbClr val="242638"/>
                </a:solidFill>
                <a:latin typeface="Arial"/>
                <a:ea typeface="Arial"/>
                <a:cs typeface="Arial"/>
              </a:rPr>
              <a:t>automated tests passed</a:t>
            </a:r>
          </a:p>
        </p:txBody>
      </p:sp>
      <p:sp>
        <p:nvSpPr>
          <p:cNvPr id="4" name="Exact rule boundaries&#10;Permissions and state transi">
            <a:extLst xmlns:a="http://schemas.openxmlformats.org/drawingml/2006/main">
              <a:ext uri="{FF2B5EF4-FFF2-40B4-BE49-F238E27FC236}">
                <a16:creationId xmlns:a16="http://schemas.microsoft.com/office/drawing/2014/main" id="{42784DF2-9628-44D6-85DB-E4CEAEA71361}"/>
              </a:ext>
            </a:extLst>
          </p:cNvPr>
          <p:cNvSpPr>
            <a:spLocks xmlns:a="http://schemas.openxmlformats.org/drawingml/2006/main" noGrp="1"/>
          </p:cNvSpPr>
          <p:nvPr/>
        </p:nvSpPr>
        <p:spPr>
          <a:xfrm xmlns:a="http://schemas.openxmlformats.org/drawingml/2006/main">
            <a:off x="723900" y="3629025"/>
            <a:ext cx="41719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025" b="0">
                <a:solidFill>
                  <a:srgbClr val="242638"/>
                </a:solidFill>
                <a:latin typeface="Arial"/>
                <a:ea typeface="Arial"/>
                <a:cs typeface="Arial"/>
              </a:defRPr>
            </a:defPPr>
          </a:lstStyle>
          <a:p xmlns:a="http://schemas.openxmlformats.org/drawingml/2006/main">
            <a:pPr algn="l">
              <a:lnSpc>
                <a:spcPct val="112000"/>
              </a:lnSpc>
              <a:buNone/>
              <a:defRPr sz="2025" b="0">
                <a:solidFill>
                  <a:srgbClr val="242638"/>
                </a:solidFill>
                <a:latin typeface="Arial"/>
                <a:ea typeface="Arial"/>
                <a:cs typeface="Arial"/>
              </a:defRPr>
            </a:pPr>
            <a:r>
              <a:rPr sz="2025" b="0">
                <a:solidFill>
                  <a:srgbClr val="242638"/>
                </a:solidFill>
                <a:latin typeface="Arial"/>
                <a:ea typeface="Arial"/>
                <a:cs typeface="Arial"/>
              </a:rPr>
              <a:t>Exact rule boundaries</a:t>
            </a:r>
          </a:p>
          <a:p xmlns:a="http://schemas.openxmlformats.org/drawingml/2006/main">
            <a:pPr algn="l">
              <a:lnSpc>
                <a:spcPct val="112000"/>
              </a:lnSpc>
              <a:buNone/>
              <a:defRPr sz="2025" b="0">
                <a:solidFill>
                  <a:srgbClr val="242638"/>
                </a:solidFill>
                <a:latin typeface="Arial"/>
                <a:ea typeface="Arial"/>
                <a:cs typeface="Arial"/>
              </a:defRPr>
            </a:pPr>
            <a:r>
              <a:rPr sz="2025" b="0">
                <a:solidFill>
                  <a:srgbClr val="242638"/>
                </a:solidFill>
                <a:latin typeface="Arial"/>
                <a:ea typeface="Arial"/>
                <a:cs typeface="Arial"/>
              </a:rPr>
              <a:t>Permissions and state transitions</a:t>
            </a:r>
          </a:p>
          <a:p xmlns:a="http://schemas.openxmlformats.org/drawingml/2006/main">
            <a:pPr algn="l">
              <a:lnSpc>
                <a:spcPct val="112000"/>
              </a:lnSpc>
              <a:buNone/>
              <a:defRPr sz="2025" b="0">
                <a:solidFill>
                  <a:srgbClr val="242638"/>
                </a:solidFill>
                <a:latin typeface="Arial"/>
                <a:ea typeface="Arial"/>
                <a:cs typeface="Arial"/>
              </a:defRPr>
            </a:pPr>
            <a:r>
              <a:rPr sz="2025" b="0">
                <a:solidFill>
                  <a:srgbClr val="242638"/>
                </a:solidFill>
                <a:latin typeface="Arial"/>
                <a:ea typeface="Arial"/>
                <a:cs typeface="Arial"/>
              </a:rPr>
              <a:t>Concurrent claims and approvals</a:t>
            </a:r>
          </a:p>
          <a:p xmlns:a="http://schemas.openxmlformats.org/drawingml/2006/main">
            <a:pPr algn="l">
              <a:lnSpc>
                <a:spcPct val="112000"/>
              </a:lnSpc>
              <a:buNone/>
              <a:defRPr sz="2025" b="0">
                <a:solidFill>
                  <a:srgbClr val="242638"/>
                </a:solidFill>
                <a:latin typeface="Arial"/>
                <a:ea typeface="Arial"/>
                <a:cs typeface="Arial"/>
              </a:defRPr>
            </a:pPr>
            <a:r>
              <a:rPr sz="2025" b="0">
                <a:solidFill>
                  <a:srgbClr val="242638"/>
                </a:solidFill>
                <a:latin typeface="Arial"/>
                <a:ea typeface="Arial"/>
                <a:cs typeface="Arial"/>
              </a:rPr>
              <a:t>Restart persistence and rollback</a:t>
            </a:r>
          </a:p>
        </p:txBody>
      </p:sp>
      <p:sp>
        <p:nvSpPr>
          <p:cNvPr id="5" name="2,000 simulated actions also preserved roster inte">
            <a:extLst xmlns:a="http://schemas.openxmlformats.org/drawingml/2006/main">
              <a:ext uri="{FF2B5EF4-FFF2-40B4-BE49-F238E27FC236}">
                <a16:creationId xmlns:a16="http://schemas.microsoft.com/office/drawing/2014/main" id="{6DE9BD2D-2B91-4E59-BD20-6B1CB92A8FB8}"/>
              </a:ext>
            </a:extLst>
          </p:cNvPr>
          <p:cNvSpPr>
            <a:spLocks xmlns:a="http://schemas.openxmlformats.org/drawingml/2006/main" noGrp="1"/>
          </p:cNvSpPr>
          <p:nvPr/>
        </p:nvSpPr>
        <p:spPr>
          <a:xfrm xmlns:a="http://schemas.openxmlformats.org/drawingml/2006/main">
            <a:off x="723900" y="5648325"/>
            <a:ext cx="4381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875" b="0">
                <a:solidFill>
                  <a:srgbClr val="62687A"/>
                </a:solidFill>
                <a:latin typeface="Arial"/>
                <a:ea typeface="Arial"/>
                <a:cs typeface="Arial"/>
              </a:defRPr>
            </a:defPPr>
          </a:lstStyle>
          <a:p xmlns:a="http://schemas.openxmlformats.org/drawingml/2006/main">
            <a:pPr algn="l">
              <a:lnSpc>
                <a:spcPct val="112000"/>
              </a:lnSpc>
              <a:buNone/>
              <a:defRPr sz="1875" b="0">
                <a:solidFill>
                  <a:srgbClr val="62687A"/>
                </a:solidFill>
                <a:latin typeface="Arial"/>
                <a:ea typeface="Arial"/>
                <a:cs typeface="Arial"/>
              </a:defRPr>
            </a:pPr>
            <a:r>
              <a:rPr sz="1875" b="0">
                <a:solidFill>
                  <a:srgbClr val="62687A"/>
                </a:solidFill>
                <a:latin typeface="Arial"/>
                <a:ea typeface="Arial"/>
                <a:cs typeface="Arial"/>
              </a:rPr>
              <a:t>2,000 simulated actions also preserved roster integrity.</a:t>
            </a:r>
          </a:p>
        </p:txBody>
      </p:sp>
      <p:sp>
        <p:nvSpPr>
          <p:cNvPr id="6" name="SH007 after a backend restart">
            <a:extLst xmlns:a="http://schemas.openxmlformats.org/drawingml/2006/main">
              <a:ext uri="{FF2B5EF4-FFF2-40B4-BE49-F238E27FC236}">
                <a16:creationId xmlns:a16="http://schemas.microsoft.com/office/drawing/2014/main" id="{2F97FB7A-B377-4BE5-9D3B-A32F06ED8193}"/>
              </a:ext>
            </a:extLst>
          </p:cNvPr>
          <p:cNvSpPr>
            <a:spLocks xmlns:a="http://schemas.openxmlformats.org/drawingml/2006/main" noGrp="1"/>
          </p:cNvSpPr>
          <p:nvPr/>
        </p:nvSpPr>
        <p:spPr>
          <a:xfrm xmlns:a="http://schemas.openxmlformats.org/drawingml/2006/main">
            <a:off x="5534025" y="1685925"/>
            <a:ext cx="5962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325" b="1">
                <a:solidFill>
                  <a:srgbClr val="242638"/>
                </a:solidFill>
                <a:latin typeface="Arial"/>
                <a:ea typeface="Arial"/>
                <a:cs typeface="Arial"/>
              </a:defRPr>
            </a:defPPr>
          </a:lstStyle>
          <a:p xmlns:a="http://schemas.openxmlformats.org/drawingml/2006/main">
            <a:pPr algn="l">
              <a:lnSpc>
                <a:spcPct val="112000"/>
              </a:lnSpc>
              <a:buNone/>
              <a:defRPr sz="2325" b="1">
                <a:solidFill>
                  <a:srgbClr val="242638"/>
                </a:solidFill>
                <a:latin typeface="Arial"/>
                <a:ea typeface="Arial"/>
                <a:cs typeface="Arial"/>
              </a:defRPr>
            </a:pPr>
            <a:r>
              <a:rPr sz="2325" b="1">
                <a:solidFill>
                  <a:srgbClr val="242638"/>
                </a:solidFill>
                <a:latin typeface="Arial"/>
                <a:ea typeface="Arial"/>
                <a:cs typeface="Arial"/>
              </a:rPr>
              <a:t>SH007 after a backend restart</a:t>
            </a:r>
          </a:p>
        </p:txBody>
      </p:sp>
      <p:sp>
        <p:nvSpPr>
          <p:cNvPr id="7" name="Vikram retained the assignment.&#10;The listing remain">
            <a:extLst xmlns:a="http://schemas.openxmlformats.org/drawingml/2006/main">
              <a:ext uri="{FF2B5EF4-FFF2-40B4-BE49-F238E27FC236}">
                <a16:creationId xmlns:a16="http://schemas.microsoft.com/office/drawing/2014/main" id="{C2ED8A67-2DEB-448F-A8E3-B57AD0D2227F}"/>
              </a:ext>
            </a:extLst>
          </p:cNvPr>
          <p:cNvSpPr>
            <a:spLocks xmlns:a="http://schemas.openxmlformats.org/drawingml/2006/main" noGrp="1"/>
          </p:cNvSpPr>
          <p:nvPr/>
        </p:nvSpPr>
        <p:spPr>
          <a:xfrm xmlns:a="http://schemas.openxmlformats.org/drawingml/2006/main">
            <a:off x="5534025" y="2400300"/>
            <a:ext cx="59626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75" b="0">
                <a:solidFill>
                  <a:srgbClr val="242638"/>
                </a:solidFill>
                <a:latin typeface="Arial"/>
                <a:ea typeface="Arial"/>
                <a:cs typeface="Arial"/>
              </a:defRPr>
            </a:defPPr>
          </a:lstStyle>
          <a:p xmlns:a="http://schemas.openxmlformats.org/drawingml/2006/main">
            <a:pPr algn="l">
              <a:lnSpc>
                <a:spcPct val="112000"/>
              </a:lnSpc>
              <a:buNone/>
              <a:defRPr sz="2175" b="0">
                <a:solidFill>
                  <a:srgbClr val="242638"/>
                </a:solidFill>
                <a:latin typeface="Arial"/>
                <a:ea typeface="Arial"/>
                <a:cs typeface="Arial"/>
              </a:defRPr>
            </a:pPr>
            <a:r>
              <a:rPr sz="2175" b="0">
                <a:solidFill>
                  <a:srgbClr val="242638"/>
                </a:solidFill>
                <a:latin typeface="Arial"/>
                <a:ea typeface="Arial"/>
                <a:cs typeface="Arial"/>
              </a:rPr>
              <a:t>Vikram retained the assignment.</a:t>
            </a:r>
          </a:p>
          <a:p xmlns:a="http://schemas.openxmlformats.org/drawingml/2006/main">
            <a:pPr algn="l">
              <a:lnSpc>
                <a:spcPct val="112000"/>
              </a:lnSpc>
              <a:buNone/>
              <a:defRPr sz="2175" b="0">
                <a:solidFill>
                  <a:srgbClr val="242638"/>
                </a:solidFill>
                <a:latin typeface="Arial"/>
                <a:ea typeface="Arial"/>
                <a:cs typeface="Arial"/>
              </a:defRPr>
            </a:pPr>
            <a:r>
              <a:rPr sz="2175" b="0">
                <a:solidFill>
                  <a:srgbClr val="242638"/>
                </a:solidFill>
                <a:latin typeface="Arial"/>
                <a:ea typeface="Arial"/>
                <a:cs typeface="Arial"/>
              </a:rPr>
              <a:t>The listing remained APPROVED.</a:t>
            </a:r>
          </a:p>
        </p:txBody>
      </p:sp>
      <p:pic>
        <p:nvPicPr>
          <p:cNvPr id="8" name="">
            <a:extLst xmlns:a="http://schemas.openxmlformats.org/drawingml/2006/main">
              <a:ext uri="{FF2B5EF4-FFF2-40B4-BE49-F238E27FC236}">
                <a16:creationId xmlns:a16="http://schemas.microsoft.com/office/drawing/2014/main" id="{A3FFBE19-D96E-42A2-8D6A-902AAE95FB5B}"/>
              </a:ext>
            </a:extLst>
          </p:cNvPr>
          <p:cNvPicPr>
            <a:picLocks xmlns:a="http://schemas.openxmlformats.org/drawingml/2006/main" noChangeAspect="1"/>
          </p:cNvPicPr>
          <p:nvPr/>
        </p:nvPicPr>
        <p:blipFill>
          <a:blip xmlns:r="http://schemas.openxmlformats.org/officeDocument/2006/relationships" xmlns:a="http://schemas.openxmlformats.org/drawingml/2006/main" r:embed="R8d2085c095594a69"/>
          <a:stretch xmlns:a="http://schemas.openxmlformats.org/drawingml/2006/main"/>
        </p:blipFill>
        <p:spPr>
          <a:xfrm xmlns:a="http://schemas.openxmlformats.org/drawingml/2006/main">
            <a:off x="5457825" y="3528609"/>
            <a:ext cx="6048375" cy="3029757"/>
          </a:xfrm>
          <a:prstGeom xmlns:a="http://schemas.openxmlformats.org/drawingml/2006/main" prst="rect">
            <a:avLst/>
          </a:prstGeom>
        </p:spPr>
      </p:pic>
    </p:spTree>
    <p:extLst>
      <p:ext uri="{BB962C8B-B14F-4D97-AF65-F5344CB8AC3E}">
        <p14:creationId xmlns:p14="http://schemas.microsoft.com/office/powerpoint/2010/main" val="302642763"/>
      </p:ext>
    </p:extLst>
  </p:cSld>
</p:sld>
</file>

<file path=ppt/slides/slide8.xml><?xml version="1.0" encoding="utf-8"?>
<p:sld xmlns:p="http://schemas.openxmlformats.org/presentationml/2006/main">
  <p:cSld>
    <p:bg>
      <p:bgPr>
        <a:solidFill xmlns:a="http://schemas.openxmlformats.org/drawingml/2006/main">
          <a:srgbClr val="222438"/>
        </a:solidFill>
      </p:bgPr>
    </p:bg>
    <p:spTree>
      <p:nvGrpSpPr>
        <p:cNvPr id="1" name=""/>
        <p:cNvGrpSpPr/>
        <p:nvPr/>
      </p:nvGrpSpPr>
      <p:grpSpPr>
        <a:xfrm xmlns:a="http://schemas.openxmlformats.org/drawingml/2006/main"/>
      </p:grpSpPr>
      <p:sp>
        <p:nvSpPr>
          <p:cNvPr id="8" name="Run and review">
            <a:extLst xmlns:a="http://schemas.openxmlformats.org/drawingml/2006/main">
              <a:ext uri="{FF2B5EF4-FFF2-40B4-BE49-F238E27FC236}">
                <a16:creationId xmlns:a16="http://schemas.microsoft.com/office/drawing/2014/main" id="{4289DDD1-3A32-4AE9-8A09-8C86AB6CC975}"/>
              </a:ext>
            </a:extLst>
          </p:cNvPr>
          <p:cNvSpPr>
            <a:spLocks xmlns:a="http://schemas.openxmlformats.org/drawingml/2006/main" noGrp="1"/>
          </p:cNvSpPr>
          <p:nvPr/>
        </p:nvSpPr>
        <p:spPr>
          <a:xfrm xmlns:a="http://schemas.openxmlformats.org/drawingml/2006/main">
            <a:off x="685800" y="523875"/>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750" b="1">
                <a:solidFill>
                  <a:srgbClr val="FFFFFF"/>
                </a:solidFill>
                <a:latin typeface="Arial"/>
                <a:ea typeface="Arial"/>
                <a:cs typeface="Arial"/>
              </a:defRPr>
            </a:defPPr>
          </a:lstStyle>
          <a:p xmlns:a="http://schemas.openxmlformats.org/drawingml/2006/main">
            <a:pPr algn="l">
              <a:lnSpc>
                <a:spcPct val="112000"/>
              </a:lnSpc>
              <a:buNone/>
              <a:defRPr sz="3750" b="1">
                <a:solidFill>
                  <a:srgbClr val="FFFFFF"/>
                </a:solidFill>
                <a:latin typeface="Arial"/>
                <a:ea typeface="Arial"/>
                <a:cs typeface="Arial"/>
              </a:defRPr>
            </a:pPr>
            <a:r>
              <a:rPr sz="3750" b="1">
                <a:solidFill>
                  <a:srgbClr val="FFFFFF"/>
                </a:solidFill>
                <a:latin typeface="Arial"/>
                <a:ea typeface="Arial"/>
                <a:cs typeface="Arial"/>
              </a:rPr>
              <a:t>Run and review</a:t>
            </a:r>
          </a:p>
        </p:txBody>
      </p:sp>
      <p:sp>
        <p:nvSpPr>
          <p:cNvPr id="2" name="Local setup">
            <a:extLst xmlns:a="http://schemas.openxmlformats.org/drawingml/2006/main">
              <a:ext uri="{FF2B5EF4-FFF2-40B4-BE49-F238E27FC236}">
                <a16:creationId xmlns:a16="http://schemas.microsoft.com/office/drawing/2014/main" id="{31E08B8B-A98F-4320-9254-096393C31690}"/>
              </a:ext>
            </a:extLst>
          </p:cNvPr>
          <p:cNvSpPr>
            <a:spLocks xmlns:a="http://schemas.openxmlformats.org/drawingml/2006/main" noGrp="1"/>
          </p:cNvSpPr>
          <p:nvPr/>
        </p:nvSpPr>
        <p:spPr>
          <a:xfrm xmlns:a="http://schemas.openxmlformats.org/drawingml/2006/main">
            <a:off x="685800" y="1609725"/>
            <a:ext cx="4572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550" b="1">
                <a:solidFill>
                  <a:srgbClr val="E1EEAE"/>
                </a:solidFill>
                <a:latin typeface="Arial"/>
                <a:ea typeface="Arial"/>
                <a:cs typeface="Arial"/>
              </a:defRPr>
            </a:defPPr>
          </a:lstStyle>
          <a:p xmlns:a="http://schemas.openxmlformats.org/drawingml/2006/main">
            <a:pPr algn="l">
              <a:lnSpc>
                <a:spcPct val="112000"/>
              </a:lnSpc>
              <a:buNone/>
              <a:defRPr sz="2550" b="1">
                <a:solidFill>
                  <a:srgbClr val="E1EEAE"/>
                </a:solidFill>
                <a:latin typeface="Arial"/>
                <a:ea typeface="Arial"/>
                <a:cs typeface="Arial"/>
              </a:defRPr>
            </a:pPr>
            <a:r>
              <a:rPr sz="2550" b="1">
                <a:solidFill>
                  <a:srgbClr val="E1EEAE"/>
                </a:solidFill>
                <a:latin typeface="Arial"/>
                <a:ea typeface="Arial"/>
                <a:cs typeface="Arial"/>
              </a:rPr>
              <a:t>Local setup</a:t>
            </a:r>
          </a:p>
        </p:txBody>
      </p:sp>
      <p:sp>
        <p:nvSpPr>
          <p:cNvPr id="3" name="Node.js 24 or newer&#10;npm start&#10;http://localhost:300">
            <a:extLst xmlns:a="http://schemas.openxmlformats.org/drawingml/2006/main">
              <a:ext uri="{FF2B5EF4-FFF2-40B4-BE49-F238E27FC236}">
                <a16:creationId xmlns:a16="http://schemas.microsoft.com/office/drawing/2014/main" id="{E132899B-BF86-48B6-BB77-3A99364359A8}"/>
              </a:ext>
            </a:extLst>
          </p:cNvPr>
          <p:cNvSpPr>
            <a:spLocks xmlns:a="http://schemas.openxmlformats.org/drawingml/2006/main" noGrp="1"/>
          </p:cNvSpPr>
          <p:nvPr/>
        </p:nvSpPr>
        <p:spPr>
          <a:xfrm xmlns:a="http://schemas.openxmlformats.org/drawingml/2006/main">
            <a:off x="685800" y="2390775"/>
            <a:ext cx="4953000" cy="2295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475" b="0">
                <a:solidFill>
                  <a:srgbClr val="FFFFFF"/>
                </a:solidFill>
                <a:latin typeface="Arial"/>
                <a:ea typeface="Arial"/>
                <a:cs typeface="Arial"/>
              </a:defRPr>
            </a:defPPr>
          </a:lstStyle>
          <a:p xmlns:a="http://schemas.openxmlformats.org/drawingml/2006/main">
            <a:pPr algn="l">
              <a:lnSpc>
                <a:spcPct val="112000"/>
              </a:lnSpc>
              <a:buNone/>
              <a:defRPr sz="2475" b="0">
                <a:solidFill>
                  <a:srgbClr val="FFFFFF"/>
                </a:solidFill>
                <a:latin typeface="Arial"/>
                <a:ea typeface="Arial"/>
                <a:cs typeface="Arial"/>
              </a:defRPr>
            </a:pPr>
            <a:r>
              <a:rPr sz="2475" b="0">
                <a:solidFill>
                  <a:srgbClr val="FFFFFF"/>
                </a:solidFill>
                <a:latin typeface="Arial"/>
                <a:ea typeface="Arial"/>
                <a:cs typeface="Arial"/>
              </a:rPr>
              <a:t>Node.js 24 or newer</a:t>
            </a:r>
          </a:p>
          <a:p xmlns:a="http://schemas.openxmlformats.org/drawingml/2006/main">
            <a:pPr algn="l">
              <a:lnSpc>
                <a:spcPct val="112000"/>
              </a:lnSpc>
              <a:buNone/>
              <a:defRPr sz="2475" b="0">
                <a:solidFill>
                  <a:srgbClr val="FFFFFF"/>
                </a:solidFill>
                <a:latin typeface="Arial"/>
                <a:ea typeface="Arial"/>
                <a:cs typeface="Arial"/>
              </a:defRPr>
            </a:pPr>
            <a:r>
              <a:rPr sz="2475" b="0">
                <a:solidFill>
                  <a:srgbClr val="FFFFFF"/>
                </a:solidFill>
                <a:latin typeface="Arial"/>
                <a:ea typeface="Arial"/>
                <a:cs typeface="Arial"/>
              </a:rPr>
              <a:t>npm start</a:t>
            </a:r>
          </a:p>
          <a:p xmlns:a="http://schemas.openxmlformats.org/drawingml/2006/main">
            <a:pPr algn="l">
              <a:lnSpc>
                <a:spcPct val="112000"/>
              </a:lnSpc>
              <a:buNone/>
              <a:defRPr sz="2475" b="0">
                <a:solidFill>
                  <a:srgbClr val="FFFFFF"/>
                </a:solidFill>
                <a:latin typeface="Arial"/>
                <a:ea typeface="Arial"/>
                <a:cs typeface="Arial"/>
              </a:defRPr>
            </a:pPr>
            <a:r>
              <a:rPr sz="2475" b="0">
                <a:solidFill>
                  <a:srgbClr val="FFFFFF"/>
                </a:solidFill>
                <a:latin typeface="Arial"/>
                <a:ea typeface="Arial"/>
                <a:cs typeface="Arial"/>
              </a:rPr>
              <a:t>http://localhost:3000</a:t>
            </a:r>
          </a:p>
          <a:p xmlns:a="http://schemas.openxmlformats.org/drawingml/2006/main">
            <a:pPr algn="l">
              <a:lnSpc>
                <a:spcPct val="112000"/>
              </a:lnSpc>
              <a:buNone/>
              <a:defRPr sz="2475" b="0">
                <a:solidFill>
                  <a:srgbClr val="FFFFFF"/>
                </a:solidFill>
                <a:latin typeface="Arial"/>
                <a:ea typeface="Arial"/>
                <a:cs typeface="Arial"/>
              </a:defRPr>
            </a:pPr>
            <a:r>
              <a:rPr sz="2475" b="0">
                <a:solidFill>
                  <a:srgbClr val="FFFFFF"/>
                </a:solidFill>
                <a:latin typeface="Arial"/>
                <a:ea typeface="Arial"/>
                <a:cs typeface="Arial"/>
              </a:rPr>
              <a:t>npm test</a:t>
            </a:r>
          </a:p>
        </p:txBody>
      </p:sp>
      <p:sp>
        <p:nvSpPr>
          <p:cNvPr id="4" name="Demo walkthrough">
            <a:extLst xmlns:a="http://schemas.openxmlformats.org/drawingml/2006/main">
              <a:ext uri="{FF2B5EF4-FFF2-40B4-BE49-F238E27FC236}">
                <a16:creationId xmlns:a16="http://schemas.microsoft.com/office/drawing/2014/main" id="{0DC31646-38D4-401F-98B1-861A31ACDC3A}"/>
              </a:ext>
            </a:extLst>
          </p:cNvPr>
          <p:cNvSpPr>
            <a:spLocks xmlns:a="http://schemas.openxmlformats.org/drawingml/2006/main" noGrp="1"/>
          </p:cNvSpPr>
          <p:nvPr/>
        </p:nvSpPr>
        <p:spPr>
          <a:xfrm xmlns:a="http://schemas.openxmlformats.org/drawingml/2006/main">
            <a:off x="6800850" y="1609725"/>
            <a:ext cx="4667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550" b="1">
                <a:solidFill>
                  <a:srgbClr val="E1EEAE"/>
                </a:solidFill>
                <a:latin typeface="Arial"/>
                <a:ea typeface="Arial"/>
                <a:cs typeface="Arial"/>
              </a:defRPr>
            </a:defPPr>
          </a:lstStyle>
          <a:p xmlns:a="http://schemas.openxmlformats.org/drawingml/2006/main">
            <a:pPr algn="l">
              <a:lnSpc>
                <a:spcPct val="112000"/>
              </a:lnSpc>
              <a:buNone/>
              <a:defRPr sz="2550" b="1">
                <a:solidFill>
                  <a:srgbClr val="E1EEAE"/>
                </a:solidFill>
                <a:latin typeface="Arial"/>
                <a:ea typeface="Arial"/>
                <a:cs typeface="Arial"/>
              </a:defRPr>
            </a:pPr>
            <a:r>
              <a:rPr sz="2550" b="1">
                <a:solidFill>
                  <a:srgbClr val="E1EEAE"/>
                </a:solidFill>
                <a:latin typeface="Arial"/>
                <a:ea typeface="Arial"/>
                <a:cs typeface="Arial"/>
              </a:rPr>
              <a:t>Demo walkthrough</a:t>
            </a:r>
          </a:p>
        </p:txBody>
      </p:sp>
      <p:sp>
        <p:nvSpPr>
          <p:cNvPr id="5" name="Ben posts SH001.&#10;Uma claims it.&#10;Meera approves it.">
            <a:extLst xmlns:a="http://schemas.openxmlformats.org/drawingml/2006/main">
              <a:ext uri="{FF2B5EF4-FFF2-40B4-BE49-F238E27FC236}">
                <a16:creationId xmlns:a16="http://schemas.microsoft.com/office/drawing/2014/main" id="{D0A9BFB0-0B6C-446F-A0FE-2BAC3FCFF706}"/>
              </a:ext>
            </a:extLst>
          </p:cNvPr>
          <p:cNvSpPr>
            <a:spLocks xmlns:a="http://schemas.openxmlformats.org/drawingml/2006/main" noGrp="1"/>
          </p:cNvSpPr>
          <p:nvPr/>
        </p:nvSpPr>
        <p:spPr>
          <a:xfrm xmlns:a="http://schemas.openxmlformats.org/drawingml/2006/main">
            <a:off x="6800850" y="2390775"/>
            <a:ext cx="4667250" cy="2314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250" b="0">
                <a:solidFill>
                  <a:srgbClr val="FFFFFF"/>
                </a:solidFill>
                <a:latin typeface="Arial"/>
                <a:ea typeface="Arial"/>
                <a:cs typeface="Arial"/>
              </a:defRPr>
            </a:defPPr>
          </a:lstStyle>
          <a:p xmlns:a="http://schemas.openxmlformats.org/drawingml/2006/main">
            <a:pPr algn="l">
              <a:lnSpc>
                <a:spcPct val="112000"/>
              </a:lnSpc>
              <a:buNone/>
              <a:defRPr sz="2250" b="0">
                <a:solidFill>
                  <a:srgbClr val="FFFFFF"/>
                </a:solidFill>
                <a:latin typeface="Arial"/>
                <a:ea typeface="Arial"/>
                <a:cs typeface="Arial"/>
              </a:defRPr>
            </a:pPr>
            <a:r>
              <a:rPr sz="2250" b="0">
                <a:solidFill>
                  <a:srgbClr val="FFFFFF"/>
                </a:solidFill>
                <a:latin typeface="Arial"/>
                <a:ea typeface="Arial"/>
                <a:cs typeface="Arial"/>
              </a:rPr>
              <a:t>Ben posts SH001.</a:t>
            </a:r>
          </a:p>
          <a:p xmlns:a="http://schemas.openxmlformats.org/drawingml/2006/main">
            <a:pPr algn="l">
              <a:lnSpc>
                <a:spcPct val="112000"/>
              </a:lnSpc>
              <a:buNone/>
              <a:defRPr sz="2250" b="0">
                <a:solidFill>
                  <a:srgbClr val="FFFFFF"/>
                </a:solidFill>
                <a:latin typeface="Arial"/>
                <a:ea typeface="Arial"/>
                <a:cs typeface="Arial"/>
              </a:defRPr>
            </a:pPr>
            <a:r>
              <a:rPr sz="2250" b="0">
                <a:solidFill>
                  <a:srgbClr val="FFFFFF"/>
                </a:solidFill>
                <a:latin typeface="Arial"/>
                <a:ea typeface="Arial"/>
                <a:cs typeface="Arial"/>
              </a:rPr>
              <a:t>Uma claims it.</a:t>
            </a:r>
          </a:p>
          <a:p xmlns:a="http://schemas.openxmlformats.org/drawingml/2006/main">
            <a:pPr algn="l">
              <a:lnSpc>
                <a:spcPct val="112000"/>
              </a:lnSpc>
              <a:buNone/>
              <a:defRPr sz="2250" b="0">
                <a:solidFill>
                  <a:srgbClr val="FFFFFF"/>
                </a:solidFill>
                <a:latin typeface="Arial"/>
                <a:ea typeface="Arial"/>
                <a:cs typeface="Arial"/>
              </a:defRPr>
            </a:pPr>
            <a:r>
              <a:rPr sz="2250" b="0">
                <a:solidFill>
                  <a:srgbClr val="FFFFFF"/>
                </a:solidFill>
                <a:latin typeface="Arial"/>
                <a:ea typeface="Arial"/>
                <a:cs typeface="Arial"/>
              </a:rPr>
              <a:t>Meera approves it.</a:t>
            </a:r>
          </a:p>
          <a:p xmlns:a="http://schemas.openxmlformats.org/drawingml/2006/main">
            <a:pPr algn="l">
              <a:lnSpc>
                <a:spcPct val="112000"/>
              </a:lnSpc>
              <a:buNone/>
              <a:defRPr sz="2250" b="0">
                <a:solidFill>
                  <a:srgbClr val="FFFFFF"/>
                </a:solidFill>
                <a:latin typeface="Arial"/>
                <a:ea typeface="Arial"/>
                <a:cs typeface="Arial"/>
              </a:defRPr>
            </a:pPr>
            <a:r>
              <a:rPr sz="2250" b="0">
                <a:solidFill>
                  <a:srgbClr val="FFFFFF"/>
                </a:solidFill>
                <a:latin typeface="Arial"/>
                <a:ea typeface="Arial"/>
                <a:cs typeface="Arial"/>
              </a:rPr>
              <a:t>The activity log records the handover.</a:t>
            </a:r>
          </a:p>
        </p:txBody>
      </p:sp>
      <p:sp>
        <p:nvSpPr>
          <p:cNvPr id="6" name="Public repository">
            <a:extLst xmlns:a="http://schemas.openxmlformats.org/drawingml/2006/main">
              <a:ext uri="{FF2B5EF4-FFF2-40B4-BE49-F238E27FC236}">
                <a16:creationId xmlns:a16="http://schemas.microsoft.com/office/drawing/2014/main" id="{0EA02270-918D-493F-86CB-7B731EC9CE87}"/>
              </a:ext>
            </a:extLst>
          </p:cNvPr>
          <p:cNvSpPr>
            <a:spLocks xmlns:a="http://schemas.openxmlformats.org/drawingml/2006/main" noGrp="1"/>
          </p:cNvSpPr>
          <p:nvPr/>
        </p:nvSpPr>
        <p:spPr>
          <a:xfrm xmlns:a="http://schemas.openxmlformats.org/drawingml/2006/main">
            <a:off x="685800" y="5248275"/>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75" b="1">
                <a:solidFill>
                  <a:srgbClr val="E1EEAE"/>
                </a:solidFill>
                <a:latin typeface="Arial"/>
                <a:ea typeface="Arial"/>
                <a:cs typeface="Arial"/>
              </a:defRPr>
            </a:defPPr>
          </a:lstStyle>
          <a:p xmlns:a="http://schemas.openxmlformats.org/drawingml/2006/main">
            <a:pPr algn="l">
              <a:lnSpc>
                <a:spcPct val="112000"/>
              </a:lnSpc>
              <a:buNone/>
              <a:defRPr sz="2175" b="1">
                <a:solidFill>
                  <a:srgbClr val="E1EEAE"/>
                </a:solidFill>
                <a:latin typeface="Arial"/>
                <a:ea typeface="Arial"/>
                <a:cs typeface="Arial"/>
              </a:defRPr>
            </a:pPr>
            <a:r>
              <a:rPr sz="2175" b="1">
                <a:solidFill>
                  <a:srgbClr val="E1EEAE"/>
                </a:solidFill>
                <a:latin typeface="Arial"/>
                <a:ea typeface="Arial"/>
                <a:cs typeface="Arial"/>
              </a:rPr>
              <a:t>Public repository</a:t>
            </a:r>
          </a:p>
        </p:txBody>
      </p:sp>
      <p:sp>
        <p:nvSpPr>
          <p:cNvPr id="7" name="github.com/kanamakindhabharathreddy/shiftswap">
            <a:extLst xmlns:a="http://schemas.openxmlformats.org/drawingml/2006/main">
              <a:ext uri="{FF2B5EF4-FFF2-40B4-BE49-F238E27FC236}">
                <a16:creationId xmlns:a16="http://schemas.microsoft.com/office/drawing/2014/main" id="{EC6ECF93-2704-4DE8-8696-EE6A54E3A523}"/>
              </a:ext>
            </a:extLst>
          </p:cNvPr>
          <p:cNvSpPr>
            <a:spLocks xmlns:a="http://schemas.openxmlformats.org/drawingml/2006/main" noGrp="1"/>
          </p:cNvSpPr>
          <p:nvPr/>
        </p:nvSpPr>
        <p:spPr>
          <a:xfrm xmlns:a="http://schemas.openxmlformats.org/drawingml/2006/main">
            <a:off x="685800" y="5772150"/>
            <a:ext cx="10820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400" b="1">
                <a:solidFill>
                  <a:srgbClr val="FFFFFF"/>
                </a:solidFill>
                <a:latin typeface="Arial"/>
                <a:ea typeface="Arial"/>
                <a:cs typeface="Arial"/>
              </a:defRPr>
            </a:defPPr>
          </a:lstStyle>
          <a:p xmlns:a="http://schemas.openxmlformats.org/drawingml/2006/main">
            <a:pPr algn="l">
              <a:lnSpc>
                <a:spcPct val="112000"/>
              </a:lnSpc>
              <a:buNone/>
              <a:defRPr sz="2400" b="1">
                <a:solidFill>
                  <a:srgbClr val="FFFFFF"/>
                </a:solidFill>
                <a:latin typeface="Arial"/>
                <a:ea typeface="Arial"/>
                <a:cs typeface="Arial"/>
              </a:defRPr>
            </a:pPr>
            <a:r>
              <a:rPr sz="2400" b="1">
                <a:solidFill>
                  <a:srgbClr val="FFFFFF"/>
                </a:solidFill>
                <a:latin typeface="Arial"/>
                <a:ea typeface="Arial"/>
                <a:cs typeface="Arial"/>
              </a:rPr>
              <a:t>github.com/kanamakindhabharathreddy/shiftswap</a:t>
            </a:r>
          </a:p>
        </p:txBody>
      </p:sp>
    </p:spTree>
    <p:extLst>
      <p:ext uri="{BB962C8B-B14F-4D97-AF65-F5344CB8AC3E}">
        <p14:creationId xmlns:p14="http://schemas.microsoft.com/office/powerpoint/2010/main" val="166053762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2026-10-10T07:47:31.2790000Z</dcterms:created>
  <dcterms:modified xsi:type="dcterms:W3CDTF">2026-10-10T07:47:31.2790000Z</dcterms:modified>
</coreProperties>
</file>